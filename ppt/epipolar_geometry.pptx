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91" r:id="rId3"/>
    <p:sldId id="325" r:id="rId4"/>
    <p:sldId id="313" r:id="rId5"/>
    <p:sldId id="310" r:id="rId6"/>
    <p:sldId id="311" r:id="rId7"/>
    <p:sldId id="319" r:id="rId8"/>
    <p:sldId id="321" r:id="rId9"/>
    <p:sldId id="314" r:id="rId10"/>
    <p:sldId id="320" r:id="rId11"/>
    <p:sldId id="312" r:id="rId12"/>
    <p:sldId id="322" r:id="rId13"/>
    <p:sldId id="323" r:id="rId14"/>
    <p:sldId id="316" r:id="rId15"/>
    <p:sldId id="32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2:48:38.4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12483 0 24575,'-9'1'0,"0"-1"0,0 2 0,0-1 0,1 1 0,-1 0 0,0 1 0,1 0 0,0 1 0,-1 0 0,1 0 0,1 0 0,-15 12 0,-2 4 0,1 1 0,-30 34 0,23-23 0,-259 273 0,251-264 0,-137 133 0,-157 115 0,82-101 0,130-101 0,49-30 0,-30 21 0,-150 84 0,18 5 0,163-119 0,-272 176 0,68-68 0,-53 30 0,237-141 0,-125 42 0,-33 16 0,187-73 0,0-2 0,-2-3 0,-89 24 0,-99 26 0,-27 7 0,-551 128 0,576-150 0,70-19 0,-361 85 0,397-100 0,43-10 0,-68 6 0,-1 0 0,67-8 0,-210 2 0,153-13 0,-209 7 0,-218 11 0,-129-8 0,461-15 0,75-17 0,-1362 17 0,758 5 0,294-3-1365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2:48:44.7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24575,'7'4'0,"0"0"0,0 0 0,0-1 0,1 0 0,-1 0 0,1-1 0,0 0 0,10 2 0,1 0 0,61 17 0,112 36 0,-167-47 0,0 1 0,0 1 0,-1 1 0,-1 1 0,31 24 0,35 38 0,-3 4 0,98 118 0,-147-154 0,55 88 0,-36-44 0,-28-46 0,-1 2 0,23 52 0,-36-69 0,1 0 0,24 34 0,12 19 0,121 193 0,-50-37 0,-41-86 0,-31-60 0,-25-49 0,39 51 0,3 3 0,242 314 0,-260-349 0,36 35 0,3-3 0,119 94 0,-174-155 0,39 47 0,-18-18 0,-10-15 0,97 78 0,-64-62 0,-40-30 0,63 41 0,-83-61 0,-1 2 0,28 26 0,-28-24 0,0-1 0,25 18 0,73 43 0,75 45 0,-131-88 0,2-3 0,72 25 0,-52-17 16,-69-30-154,1-1 0,0 0 0,0-1 0,1 0 0,-1-1-1,1 0 1,0-1 0,0 0 0,19 0 0,-13-3-6688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18:19:10.238"/>
    </inkml:context>
    <inkml:brush xml:id="br0">
      <inkml:brushProperty name="width" value="0.05" units="cm"/>
      <inkml:brushProperty name="height" value="0.05" units="cm"/>
      <inkml:brushProperty name="color" value="#00B0F0"/>
    </inkml:brush>
  </inkml:definitions>
  <inkml:trace contextRef="#ctx0" brushRef="#br0">4 1 24575,'-1'85'0,"-2"-36"0,3-1 0,2 0 0,2 0 0,2 0 0,14 57 0,1-11 0,-18-71 0,2-1 0,0 0 0,17 43 0,67 170 0,-62-156 0,3-1 0,55 101 0,-19-60 0,-17-29 0,68 92 0,-81-126-1365,-24-29-5461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18:19:12.564"/>
    </inkml:context>
    <inkml:brush xml:id="br0">
      <inkml:brushProperty name="width" value="0.05" units="cm"/>
      <inkml:brushProperty name="height" value="0.05" units="cm"/>
      <inkml:brushProperty name="color" value="#00B0F0"/>
    </inkml:brush>
  </inkml:definitions>
  <inkml:trace contextRef="#ctx0" brushRef="#br0">1 214 24575,'8'0'0,"7"0"0,5 0 0,3 0 0,2 0 0,1 0 0,-1-8 0,-3-7 0,-6-6 0,2-6 0,-2-3 0,-3-1 0,-4 1 0,-4 1 0,-2 6-8191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0:55:27.4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1475 24575,'191'3'0,"203"-7"0,-197-14 0,-102 7 0,135-32 0,71-9 0,8 16 0,-272 31 0,0-1 0,50-17 0,8-1 0,139-7 0,-30 5 0,-137 15 0,4-1 0,104-31 0,12-1 0,-111 28 0,-51 9 0,-2-1 0,1-1 0,-1-1 0,32-20 0,28-12 0,225-88 0,-209 89 0,-51 22 0,-1-2 0,80-47 0,107-82 0,-182 112 0,85-81 0,-65 49 0,129-133 0,-106 106-1365,-87 87-5461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0:55:29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24575,'63'-1'0,"69"2"0,-130 0 0,0-1 0,0 1 0,0-1 0,0 1 0,0 0 0,-1 0 0,1 0 0,0 0 0,0 0 0,-1 0 0,1 0 0,-1 1 0,1-1 0,-1 1 0,1-1 0,-1 1 0,0-1 0,0 1 0,0 0 0,0-1 0,0 1 0,0 0 0,0 0 0,0 0 0,-1 0 0,1 0 0,-1 0 0,0 0 0,1 0 0,-1 0 0,0 2 0,1 11 0,-1 1 0,0-1 0,-3 20 0,1-9 0,10 33 53,-3-32-1471,-3-10-5408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0:55:37.7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248 2222 24575,'-8'-21'0,"1"0"0,0 0 0,-4-26 0,5 20 0,-17-130 0,18 106 0,-16-68 0,-4 30 0,13 52 0,1-1 0,3 0 0,-6-50 0,12 65 0,-2 0 0,-8-27 0,7 30 0,0 0 0,1 0 0,-1-30 0,3 10 0,-13-64 0,8 66 0,1 1 0,1-40 0,-12-135 0,17-333 0,2 524 33,0 1 0,1 0 1,9-31-1,4-30-1531,-15 66-5328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0:55:39.8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24575,'9'-1'0,"0"0"0,0-1 0,0 0 0,-1 0 0,1-1 0,-1-1 0,0 1 0,1-1 0,-2-1 0,1 1 0,0-1 0,12-12 0,-11 10 0,-1 1 0,1 0 0,0 0 0,1 1 0,-1 0 0,1 1 0,0 0 0,11-3 0,-17 7 0,-1-1 0,1 1 0,0 0 0,-1 0 0,1 0 0,0 1 0,-1 0 0,1-1 0,-1 1 0,1 0 0,-1 1 0,1-1 0,5 3 0,42 32 0,-2-3 0,-5-7-1365,-28-18-5461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0:57:22.2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38 24575,'1'0'0,"1"0"0,0 0 0,-1 1 0,1-1 0,-1 0 0,1 1 0,-1-1 0,1 1 0,-1 0 0,1-1 0,-1 1 0,1 0 0,-1 0 0,0 0 0,0 0 0,1 0 0,-1 0 0,0 0 0,0 0 0,0 1 0,0-1 0,0 0 0,0 1 0,-1-1 0,1 1 0,0-1 0,-1 1 0,1-1 0,-1 1 0,1-1 0,-1 1 0,0-1 0,0 1 0,0 0 0,0-1 0,0 1 0,0-1 0,0 1 0,0 0 0,-1-1 0,0 3 0,1-3 0,0 1 0,-1 0 0,1-1 0,0 1 0,-1 0 0,0-1 0,0 1 0,1-1 0,-1 1 0,0-1 0,0 1 0,0-1 0,0 0 0,-3 3 0,4-4 0,-1 1 0,0-1 0,1 0 0,-1 0 0,0 1 0,1-1 0,-1 0 0,0 0 0,1 0 0,-1 0 0,0 0 0,0 0 0,1 0 0,-1 0 0,0 0 0,1 0 0,-1 0 0,0 0 0,1 0 0,-1 0 0,0-1 0,1 1 0,-1 0 0,0-1 0,1 1 0,-1 0 0,1-1 0,-1 1 0,0-1 0,1 1 0,-1-1 0,1 1 0,-1-1 0,1 1 0,-1-2 0,0 1 0,1 0 0,-1 0 0,0 0 0,1 0 0,-1 0 0,1 0 0,0-1 0,-1 1 0,1 0 0,0 0 0,-1 0 0,1-1 0,0 1 0,0 0 0,0 0 0,0-1 0,0 1 0,1 0 0,-1 0 0,0-1 0,1 1 0,-1 0 0,0 0 0,1 0 0,-1 0 0,1-1 0,0 1 0,-1 0 0,1 0 0,0 0 0,0 0 0,0 1 0,0-1 0,-1 0 0,1 0 0,0 0 0,1 1 0,-1-1 0,1 0 0,-1 0 0,1 0 0,-1-1 0,1 1 0,-1 1 0,1-1 0,-1 0 0,1 0 0,0 0 0,0 1 0,-1-1 0,1 1 0,0 0 0,0-1 0,-1 1 0,1 0 0,0 0 0,0 0 0,0 0 0,0 0 0,-1 1 0,1-1 0,0 1 0,0-1 0,-1 1 0,1-1 0,2 2 0,-4-2 0,0 1 0,1-1 0,-1 0 0,0 0 0,0 1 0,1-1 0,-1 0 0,0 1 0,0-1 0,0 0 0,1 1 0,-1-1 0,0 1 0,0-1 0,0 0 0,0 1 0,0-1 0,0 0 0,0 1 0,0-1 0,0 1 0,0-1 0,0 0 0,0 1 0,0-1 0,0 1 0,0-1 0,0 0 0,0 1 0,-1-1 0,1 0 0,0 1 0,0-1 0,0 0 0,-1 1 0,1-1 0,0 1 0,-18 13 0,-21 3 0,38-17 0,-1 1 0,1-1 0,0 1 0,0-1 0,-1 0 0,1 0 0,0 0 0,0 1 0,-1-1 0,1 0 0,0-1 0,-1 1 0,1 0 0,0 0 0,0 0 0,-1-1 0,1 1 0,0-1 0,0 1 0,0-1 0,0 1 0,-1-1 0,1 0 0,0 0 0,0 1 0,0-1 0,0 0 0,1 0 0,-1 0 0,0 0 0,0 0 0,0 0 0,1 0 0,-1 0 0,1-1 0,-1 1 0,1 0 0,-1 0 0,1 0 0,0-1 0,-1 1 0,1 0 0,0-1 0,0 1 0,0 0 0,0 0 0,0-3 0,0 1 0,1 0 0,-1-1 0,1 1 0,0 0 0,0 0 0,0 0 0,0 0 0,0 0 0,1 0 0,-1 0 0,1 0 0,0 0 0,0 0 0,0 1 0,0-1 0,1 1 0,-1 0 0,4-3 0,-4 3 0,0 1 0,1-1 0,-1 1 0,1 0 0,-1 0 0,1 0 0,0 0 0,0 0 0,-1 0 0,1 1 0,0 0 0,0-1 0,0 1 0,-1 0 0,1 0 0,0 1 0,0-1 0,0 0 0,-1 1 0,1 0 0,0 0 0,-1-1 0,1 2 0,0-1 0,-1 0 0,1 0 0,-1 1 0,0 0 0,1-1 0,-1 1 0,0 0 0,0 0 0,0 0 0,0 0 0,-1 0 0,1 1 0,-1-1 0,1 1 0,-1-1 0,0 1 0,0-1 0,0 1 0,0 0 0,0-1 0,0 1 0,-1 0 0,1 0 0,-1-1 0,0 1 0,0 0 0,0 0 0,0 0 0,-1 0 0,1-1 0,-1 1 0,0 0 0,1 0 0,-3 4 0,1-5 0,0 0 0,0 1 0,0-1 0,-1 0 0,1 0 0,0 0 0,-1 0 0,1-1 0,-1 1 0,0-1 0,0 1 0,1-1 0,-1 0 0,0 0 0,0 0 0,0 0 0,0-1 0,0 1 0,0-1 0,0 0 0,0 0 0,-1 0 0,1 0 0,0-1 0,0 1 0,0-1 0,-5-1 0,6 2 0,0-1 0,0 1 0,0 0 0,0-1 0,-1 0 0,1 1 0,0-1 0,0 0 0,1 0 0,-1 0 0,0 0 0,0 0 0,0-1 0,1 1 0,-1 0 0,1-1 0,-1 1 0,1-1 0,-1 0 0,1 1 0,0-1 0,0 0 0,0 0 0,0 0 0,0 0 0,0 0 0,1 0 0,-1 0 0,1 0 0,-1 0 0,1 0 0,0 0 0,-1-1 0,1 1 0,1 0 0,-1 0 0,0 0 0,0 0 0,2-4 0,-1 5 0,0-1 0,0 1 0,0-1 0,0 1 0,1-1 0,-1 1 0,1 0 0,-1-1 0,1 1 0,0 0 0,-1 0 0,1 0 0,0 1 0,0-1 0,-1 0 0,1 0 0,0 1 0,0 0 0,0-1 0,0 1 0,0 0 0,0 0 0,0 0 0,0 0 0,0 0 0,3 1 0,-3-1 0,0 0 0,0 0 0,0 0 0,0 1 0,0-1 0,0 1 0,0-1 0,0 1 0,0 0 0,0 0 0,-1 0 0,1 0 0,0 0 0,0 0 0,-1 0 0,1 0 0,-1 1 0,1-1 0,-1 1 0,0-1 0,0 1 0,1-1 0,-1 1 0,0 0 0,0 0 0,1 2 0,-2-1 0,0 0 0,1 0 0,-1 0 0,0-1 0,0 1 0,-1 0 0,1 0 0,0 0 0,-1 0 0,0-1 0,0 1 0,0 0 0,0-1 0,0 1 0,0-1 0,-1 1 0,1-1 0,-1 1 0,0-1 0,1 0 0,-4 3 0,4-4 0,-1 0 0,1 0 0,0-1 0,-1 1 0,1 0 0,-1 0 0,0-1 0,1 1 0,-1-1 0,1 0 0,-1 1 0,0-1 0,1 0 0,-1 0 0,0 0 0,1 0 0,-1 0 0,1 0 0,-1-1 0,0 1 0,1 0 0,-1-1 0,1 1 0,-1-1 0,1 0 0,-1 1 0,1-1 0,-1 0 0,1 0 0,0 0 0,-1 0 0,1 0 0,0 0 0,0-1 0,0 1 0,0 0 0,-1-3 0,73 5 0,-68-2 0,1 0 0,0 0 0,-1 0 0,0 0 0,1-1 0,-1 1 0,0-1 0,0 0 0,1 0 0,4-5 0,-8 7 0,-1 2 0,1 0 0,0 0 0,-1 0 0,0 0 0,1 0 0,-1 0 0,0 0 0,0-1 0,0 1 0,0 0 0,-1-1 0,1 1 0,0-1 0,-3 3 0,-1-2-61,-1 0 0,1-1 0,-1 1 0,0-1 0,1 0-1,-1-1 1,0 1 0,0-1 0,-7-1 0,6 1-693,-7 0-6072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0:57:27.5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1 24575,'3'1'0,"0"0"0,0-1 0,0 1 0,-1 1 0,1-1 0,0 0 0,-1 0 0,1 1 0,-1 0 0,1-1 0,-1 1 0,0 0 0,0 0 0,0 0 0,0 1 0,0-1 0,0 0 0,-1 1 0,1-1 0,-1 1 0,1 0 0,-1-1 0,0 1 0,0 0 0,0 3 0,1-1 0,0-1 0,-1 1 0,0 0 0,0-1 0,0 1 0,0 0 0,-1 0 0,0 0 0,0 0 0,0 0 0,-1 0 0,1-1 0,-1 1 0,-3 8 0,2-10 0,0-1 0,0 0 0,0 1 0,0-1 0,0 0 0,-1 0 0,1 0 0,-1-1 0,0 1 0,1-1 0,-1 1 0,0-1 0,0 0 0,0 0 0,0 0 0,0 0 0,0-1 0,0 1 0,0-1 0,0 0 0,0 0 0,0 0 0,0 0 0,0-1 0,0 1 0,0-1 0,0 1 0,0-1 0,0 0 0,0 0 0,0-1 0,0 1 0,1-1 0,-1 1 0,0-1 0,1 0 0,0 0 0,-1 0 0,1 0 0,0 0 0,0 0 0,0-1 0,0 1 0,0-1 0,1 0 0,-1 1 0,0-4 0,0 1 0,1 1 0,1-1 0,-1 0 0,0 1 0,1-1 0,0 0 0,0 1 0,1-1 0,-1 0 0,1 1 0,0-1 0,0 1 0,1-1 0,-1 1 0,1-1 0,2-3 0,-2 5 0,0 0 0,0 1 0,0-1 0,0 1 0,0 0 0,0-1 0,1 1 0,-1 0 0,1 0 0,-1 0 0,1 1 0,0-1 0,0 1 0,0-1 0,0 1 0,0 0 0,0 0 0,0 0 0,0 1 0,0-1 0,0 1 0,1-1 0,-1 1 0,4 0 0,-6 1 0,0-1 0,0 0 0,0 0 0,0 0 0,0 1 0,0-1 0,0 1 0,0-1 0,0 1 0,0-1 0,0 1 0,0-1 0,0 1 0,0 0 0,-1-1 0,1 1 0,0 0 0,0 0 0,-1 0 0,1 0 0,-1 0 0,1 0 0,-1-1 0,1 1 0,0 2 0,0 0 0,0 1 0,0-1 0,-1 1 0,1-1 0,-1 1 0,1-1 0,-1 1 0,-1 5 0,1-6 0,0 0 0,0 0 0,0 0 0,-1 0 0,0 0 0,1 0 0,-1 0 0,0-1 0,0 1 0,-1 0 0,1 0 0,0-1 0,-1 1 0,0 0 0,1-1 0,-1 0 0,0 1 0,-1-1 0,1 0 0,0 0 0,-4 2 0,5-3 3,0-1 0,0 0 0,0 1 0,0-1 0,0 0 0,0 0 0,0 0 0,0 0 0,0 0-1,0 0 1,0 0 0,0 0 0,0 0 0,0 0 0,0 0 0,0-1 0,0 1 0,0 0 0,0-1 0,0 1 0,0-1-1,0 1 1,0-1 0,0 0 0,0 1 0,1-1 0,-1 0 0,0 1 0,0-1 0,1 0 0,-1 0 0,0 0 0,1 0 0,-1 0-1,1 1 1,0-1 0,-1 0 0,1 0 0,-1 0 0,1-2 0,-1-1-138,1 0 0,-1 0 0,1 0 0,0 0 0,0 0 0,0 0 0,1 0 0,-1 0 0,1 0 0,1-3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15:49:59.4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 1 24575,'0'4'0,"0"47"0,0 31 0,-4 10 0,-2 1 0,1-6 0,-3-11 0,-1-13 0,-2-10 0,0-5 0,3-3 0,1-4 0,4-6 0,1-1 0,1-1 0,1-7-8191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15:50:01.1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24575,'14'16'0,"-1"0"0,16 29 0,10 11 0,-30-45 0,-2-1 0,0 0 0,1-1 0,1 0 0,-1 0 0,2-1 0,10 8 0,-17-14 0,0-1 0,0 1 0,0-1 0,1 0 0,-1 0 0,0 0 0,1 0 0,-1 0 0,1-1 0,-1 0 0,1 0 0,-1 0 0,1 0 0,-1 0 0,1 0 0,-1-1 0,0 0 0,1 0 0,-1 0 0,0 0 0,1 0 0,-1-1 0,0 1 0,0-1 0,0 0 0,4-3 0,14-12 20,0-1 0,28-31 0,-8 8-1445,-15 16-5401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3:46:19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24575,'2'8'0,"0"-1"0,1 0 0,-1-1 0,1 1 0,0 0 0,1-1 0,0 1 0,0-1 0,0 0 0,1-1 0,10 11 0,7 11 0,-20-23 0,25 35 0,1-1 0,2-1 0,40 39 0,309 236 0,-366-301 0,-1 1 0,-1 0 0,0 0 0,16 25 0,4 4 0,-13-16 0,-1 1 0,-1 1 0,-1 0 0,-2 1 0,0 1 0,9 35 0,7 12 0,-22-60-170,-1 0-1,-1 0 0,-1 1 1,0 0-1,-1 0 0,-1 0 1,1 18-1,-3-13-6655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3:46:21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1 111 24575,'4'0'0,"4"0"0,5 0 0,4 0 0,-2 4 0,1 0 0,1 1 0,-2-5 0,0-6 0,-3-5 0,0-8 0,2-5 0,-1-1 0,0 3 0,-2 5-8191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3:46:23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24575,'112'1'0,"123"-3"0,-140-8 0,-54 4 0,48 0 0,726 7-1365,-793-1-5461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3:46:51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1 24575,'1'8'0,"0"0"0,0 0 0,1 0 0,0 0 0,1-1 0,4 13 0,9 25 0,-9 9 0,-2 0 0,-2 0 0,-3 1 0,-6 56 0,-19 57 0,-14-20 0,5-26 0,26-88-455,-1-1 0,-25 61 0,25-75-6371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6T23:46:53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24575,'2'10'0,"1"0"0,1 0 0,-1-1 0,2 1 0,-1-1 0,1 0 0,0 0 0,1-1 0,0 0 0,9 9 0,-13-13 5,1-1 0,0 0 0,0 0-1,1-1 1,-1 1 0,0-1 0,1 0 0,0 1-1,-1-1 1,1-1 0,0 1 0,0-1 0,0 1-1,0-1 1,0 0 0,0-1 0,1 1-1,-1-1 1,0 0 0,0 0 0,1 0 0,-1 0-1,0-1 1,8-1 0,1-2-217,0 0 0,0-1 0,-1 0-1,0-1 1,0 0 0,18-14 0,-6 3-6614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03:09:59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24575,'4'0'0,"0"0"0,1 1 0,-1 0 0,0-1 0,1 2 0,-1-1 0,0 0 0,0 1 0,0 0 0,0 0 0,0 0 0,-1 0 0,1 1 0,0-1 0,-1 1 0,0 0 0,0 0 0,0 0 0,0 0 0,0 1 0,0-1 0,-1 1 0,0 0 0,0 0 0,0 0 0,0 0 0,-1 0 0,1 0 0,-1 0 0,0 0 0,1 5 0,2 15 0,-1 0 0,0 1 0,-2-1 0,-2 31 0,1-45 0,-3 604 0,4-601 0,0-1 0,1 0 0,0 0 0,1 0 0,1-1 0,0 1 0,1-1 0,0 0 0,0 0 0,1 0 0,0-1 0,1 1 0,1-2 0,-1 1 0,16 13 0,-23-22 0,1-1 0,0 0 0,-1 0 0,1 1 0,-1-1 0,1 1 0,-1-1 0,1 0 0,-1 1 0,1-1 0,-1 1 0,0-1 0,1 1 0,-1 0 0,0-1 0,1 1 0,-1-1 0,0 1 0,1 0 0,-1-1 0,0 1 0,0-1 0,0 1 0,0 0 0,0-1 0,0 1 0,0 0 0,0-1 0,0 1 0,0 0 0,0-1 0,0 1 0,0 0 0,-1-1 0,1 1 0,0-1 0,0 1 0,-1 0 0,1-1 0,0 1 0,-1-1 0,0 2 0,-31 9 0,-2 2 0,31-10 0,0 1 0,-1-1 0,2 1 0,-1 0 0,0 0 0,1 0 0,0 0 0,0 0 0,0 1 0,0-1 0,1 0 0,-1 1 0,1 0 0,0-1 0,1 1 0,-1 6 0,0 13 0,3 48 0,1-36 0,-1 462 0,-2-297 0,0-196 8,0 0 0,0 1 0,0-1 0,-1 0 0,0 0 0,0-1 0,0 1 0,0 0 0,-1 0 0,0 0 0,0-1 0,0 1 0,-1-1 0,-5 8 0,4-8-132,-1 0 0,0 0 1,0 0-1,0 0 0,-1-1 0,1 0 1,-1 0-1,0-1 0,1 0 0,-1 0 1,-9 2-1,-8 2-6702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04:00:06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24575,'0'716'-1365,"0"-694"-5461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04:00:11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24575,'4'0'0,"0"1"0,1-1 0,-1 1 0,0 0 0,0 1 0,1-1 0,-1 1 0,0-1 0,-1 1 0,1 0 0,0 1 0,0-1 0,4 5 0,47 47 0,-46-43 0,1 0 0,0-1 0,1 0 0,19 13 0,-27-21 0,0 0 0,0-1 0,0 1 0,0-1 0,0 0 0,1 0 0,-1 0 0,0 0 0,0-1 0,1 1 0,-1-1 0,1 0 0,-1 0 0,0 0 0,1-1 0,-1 1 0,0-1 0,1 1 0,-1-1 0,0 0 0,0-1 0,0 1 0,6-4 0,5-5-193,0-1 0,0-1 0,-2 0 0,1-1-1,-1 0 1,18-28 0,-30 40 180,10-12-6813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04:52:13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24575,'1146'0'0,"-908"18"0,-22 0 0,-13 0 0,14 0 0,-192-18 0,-14 0 0,-1-1 0,1 2 0,-1-1 0,1 2 0,19 4 0,-26-5 0,-1 1 0,0-1 0,1 1 0,-1 0 0,0 0 0,0 0 0,0 0 0,-1 1 0,1-1 0,-1 1 0,1 0 0,-1 0 0,0 0 0,0 0 0,0 0 0,0 0 0,-1 0 0,1 1 0,-1-1 0,0 1 0,2 4 0,2 18 0,0 0 0,-2 0 0,0 0 0,-2 0 0,-1 1 0,-1-1 0,-8 42 0,-4 2 0,-35 107 0,41-154 0,-1-1 0,-1-1 0,-1 1 0,-23 36 0,28-51 0,-1 1 0,1-1 0,-2 0 0,1 0 0,-1-1 0,0 0 0,0 0 0,-1-1 0,0 0 0,0 0 0,0-1 0,0 1 0,-1-2 0,1 0 0,-12 3 0,-28 2 0,-1-3 0,1-2 0,-1-2 0,-67-7 0,-17 1 0,-126 7 0,-217-5 0,346-14 0,83 9 0,-59-2 0,24 12 0,59 0 0,0 0 0,0-2 0,0-1 0,0-1 0,0-1 0,1-1 0,-24-6 0,40 6 0,0 1 0,0-1 0,1 0 0,-1 0 0,1-1 0,0 0 0,0 0 0,0 0 0,1 0 0,0-1 0,0 0 0,0 0 0,1 0 0,0 0 0,0 0 0,-3-10 0,-2-7 0,1-1 0,0 0 0,-3-31 0,4-14 0,2-1 0,8-89 0,0 21 0,-5-37-1365,1 145-5461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06:47:46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24575,'0'0'0,"1"-1"0,-1 0 0,1 0 0,-1 0 0,1 1 0,-1-1 0,1 0 0,-1 1 0,1-1 0,0 0 0,-1 1 0,1-1 0,0 1 0,-1-1 0,1 1 0,0-1 0,0 1 0,0-1 0,0 1 0,-1 0 0,1-1 0,0 1 0,0 0 0,0 0 0,1 0 0,29-5 0,-27 4 0,104-7 0,156 8 0,-106 3 0,-40-3-1365,-97 0-5461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06:47:42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24575,'0'5'0,"-4"8"0,-5 8 0,-2 3 0,2 2 0,1 1 0,-1 0 0,-3-1 0,-4-4 0,1-3 0,-1 1 0,10 0 0,10 5 0,9 7 0,6 2 0,4-1 0,-2-2 0,-4-6-8191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06:47:43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06:47:50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24575,'678'0'-1365,"-656"0"-5461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06:47:57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24575,'3'0'0,"-1"1"0,0-1 0,0 1 0,0 0 0,0 0 0,0-1 0,0 1 0,0 1 0,0-1 0,0 0 0,0 0 0,0 1 0,-1-1 0,1 1 0,0-1 0,-1 1 0,0 0 0,1 0 0,1 2 0,23 44 0,-19-33 0,49 86 0,-54-96 0,0 0 0,0 0 0,-1 0 0,0 0 0,0 1 0,0-1 0,-1 0 0,1 0 0,-1 1 0,0-1 0,-1 0 0,1 1 0,-1-1 0,0 0 0,-1 0 0,1 0 0,-1 0 0,0 0 0,0 0 0,-1 0 0,-4 7 0,-4 6 0,0-1 0,-1 0 0,-1-1 0,-17 18 0,14-17-1365,3-3-5461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06:48:28.1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26 24575,'130'2'0,"141"-4"0,-159-9 0,78-3 0,1003 15 0,-1033 12 0,2 0 0,409-15 0,-532 4 0,49 9 0,30 1 0,-26-1 101,-41-3-1567,-24-5-5360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16:50:04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28 686 24575,'-5'-12'0,"0"0"0,1-1 0,0 1 0,1-1 0,1 1 0,0-1 0,0-14 0,2-96 0,2 64 0,-3-4 0,-1 28 0,2 0 0,7-56 0,-6 82 0,1 0 0,0 0 0,1 1 0,-1-1 0,2 1 0,-1-1 0,1 1 0,0 0 0,1 0 0,0 1 0,0-1 0,1 1 0,0 0 0,0 1 0,7-7 0,-7 9 0,0 0 0,0 0 0,1 1 0,-1 0 0,1 0 0,0 0 0,0 1 0,0 0 0,0 1 0,0-1 0,0 1 0,1 1 0,-1-1 0,0 1 0,0 1 0,1-1 0,-1 1 0,0 0 0,0 1 0,0 0 0,0 0 0,0 0 0,0 1 0,-1 0 0,1 0 0,-1 1 0,0 0 0,0 0 0,0 0 0,0 1 0,-1 0 0,0 0 0,0 0 0,0 1 0,0 0 0,4 8 0,-3-1 0,-2 0 0,1 0 0,-2 0 0,1 1 0,-2-1 0,0 1 0,0 16 0,-5 103 0,0-50 0,4-29 0,0-30 0,0 1 0,-6 39 0,4-61 0,0 0 0,0 0 0,0 0 0,0-1 0,-1 1 0,1 0 0,-1 0 0,0-1 0,0 1 0,0-1 0,0 1 0,0-1 0,0 0 0,-1 0 0,1 0 0,-1 0 0,1-1 0,-1 1 0,0-1 0,-4 3 0,-9 2 0,0 0 0,-29 6 0,9-3 0,18-4-227,1-2-1,-1 0 1,-1-1-1,1 0 1,-23-2-1,20 0-6598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16:50:05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24575,'0'751'-1365,"0"-730"-5461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16:50:15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24575,'0'4'0,"1"1"0,0-1 0,0 0 0,0 1 0,1-1 0,-1 0 0,1 0 0,0 0 0,0 0 0,1-1 0,-1 1 0,5 5 0,41 41 0,-39-41 0,-7-7 0,6 6 0,0 0 0,1 0 0,0-1 0,0 0 0,16 9 0,-22-15 0,0 0 0,0 0 0,0 0 0,1 0 0,-1 0 0,0-1 0,1 1 0,-1-1 0,0 0 0,1 0 0,-1 0 0,0-1 0,1 1 0,-1-1 0,0 0 0,0 0 0,1 0 0,-1 0 0,0 0 0,0-1 0,0 1 0,0-1 0,3-3 0,8-4-124,0 0 0,-1-1 0,0-1 0,-1 0 0,0-1 0,-1 0-1,-1 0 1,1-1 0,-2-1 0,14-25 0,-16 24-6702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16:51:1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24575,'767'0'0,"-708"4"0,-1 2 0,1 2 0,80 24 0,-83-18 0,0-2 0,1-2 0,97 3 0,-94-14-101,-28-1-152,1 1 0,-1 2 1,0 1-1,53 11 0,-67-8-6573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16:51:1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24575,'30'24'0,"11"13"0,-5 2 0,-27-32 0,0 1 0,-1 1 0,-1 0 0,1 0 0,-2 1 0,1-1 0,5 12 0,-12-19 0,1 1 0,-1-1 0,1 0 0,-1 1 0,0-1 0,0 0 0,0 1 0,0-1 0,0 1 0,-1-1 0,1 0 0,-1 0 0,1 1 0,-1-1 0,0 0 0,0 0 0,0 0 0,0 1 0,0-1 0,0 0 0,-1-1 0,1 1 0,-1 0 0,1 0 0,-1-1 0,0 1 0,0-1 0,-3 3 0,-8 6 0,0-1 0,-1-1 0,-19 9 0,7-3 0,-98 66-1365,104-66-5461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C80E9-6DA7-41C7-90D9-8982685E6806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29E9B-DE9D-4FFE-ABCE-07109C06F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679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97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91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097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45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63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41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737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00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516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220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564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66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customXml" Target="../ink/ink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customXml" Target="../ink/ink8.xml"/><Relationship Id="rId18" Type="http://schemas.openxmlformats.org/officeDocument/2006/relationships/image" Target="../media/image11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12" Type="http://schemas.openxmlformats.org/officeDocument/2006/relationships/image" Target="../media/image8.png"/><Relationship Id="rId17" Type="http://schemas.openxmlformats.org/officeDocument/2006/relationships/customXml" Target="../ink/ink10.xml"/><Relationship Id="rId2" Type="http://schemas.openxmlformats.org/officeDocument/2006/relationships/image" Target="../media/image5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5" Type="http://schemas.openxmlformats.org/officeDocument/2006/relationships/customXml" Target="../ink/ink9.xml"/><Relationship Id="rId10" Type="http://schemas.openxmlformats.org/officeDocument/2006/relationships/image" Target="../media/image7.png"/><Relationship Id="rId4" Type="http://schemas.openxmlformats.org/officeDocument/2006/relationships/image" Target="../media/image40.png"/><Relationship Id="rId9" Type="http://schemas.openxmlformats.org/officeDocument/2006/relationships/customXml" Target="../ink/ink6.xml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jpg"/><Relationship Id="rId7" Type="http://schemas.openxmlformats.org/officeDocument/2006/relationships/customXml" Target="../ink/ink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customXml" Target="../ink/ink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8" Type="http://schemas.openxmlformats.org/officeDocument/2006/relationships/customXml" Target="../ink/ink18.xml"/><Relationship Id="rId26" Type="http://schemas.openxmlformats.org/officeDocument/2006/relationships/customXml" Target="../ink/ink21.xml"/><Relationship Id="rId39" Type="http://schemas.openxmlformats.org/officeDocument/2006/relationships/image" Target="../media/image38.png"/><Relationship Id="rId3" Type="http://schemas.openxmlformats.org/officeDocument/2006/relationships/image" Target="../media/image200.png"/><Relationship Id="rId21" Type="http://schemas.openxmlformats.org/officeDocument/2006/relationships/customXml" Target="../ink/ink19.xml"/><Relationship Id="rId34" Type="http://schemas.openxmlformats.org/officeDocument/2006/relationships/customXml" Target="../ink/ink25.xml"/><Relationship Id="rId7" Type="http://schemas.openxmlformats.org/officeDocument/2006/relationships/image" Target="../media/image230.png"/><Relationship Id="rId12" Type="http://schemas.openxmlformats.org/officeDocument/2006/relationships/customXml" Target="../ink/ink16.xml"/><Relationship Id="rId17" Type="http://schemas.openxmlformats.org/officeDocument/2006/relationships/image" Target="../media/image19.png"/><Relationship Id="rId25" Type="http://schemas.openxmlformats.org/officeDocument/2006/relationships/image" Target="../media/image27.jpg"/><Relationship Id="rId33" Type="http://schemas.openxmlformats.org/officeDocument/2006/relationships/image" Target="../media/image35.png"/><Relationship Id="rId38" Type="http://schemas.openxmlformats.org/officeDocument/2006/relationships/customXml" Target="../ink/ink27.xml"/><Relationship Id="rId2" Type="http://schemas.openxmlformats.org/officeDocument/2006/relationships/image" Target="../media/image190.png"/><Relationship Id="rId16" Type="http://schemas.openxmlformats.org/officeDocument/2006/relationships/image" Target="../media/image28.png"/><Relationship Id="rId20" Type="http://schemas.openxmlformats.org/officeDocument/2006/relationships/image" Target="../media/image26.png"/><Relationship Id="rId29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.xml"/><Relationship Id="rId11" Type="http://schemas.openxmlformats.org/officeDocument/2006/relationships/image" Target="../media/image25.png"/><Relationship Id="rId24" Type="http://schemas.openxmlformats.org/officeDocument/2006/relationships/image" Target="../media/image32.png"/><Relationship Id="rId32" Type="http://schemas.openxmlformats.org/officeDocument/2006/relationships/customXml" Target="../ink/ink24.xml"/><Relationship Id="rId37" Type="http://schemas.openxmlformats.org/officeDocument/2006/relationships/image" Target="../media/image37.png"/><Relationship Id="rId5" Type="http://schemas.openxmlformats.org/officeDocument/2006/relationships/image" Target="../media/image220.png"/><Relationship Id="rId15" Type="http://schemas.openxmlformats.org/officeDocument/2006/relationships/customXml" Target="../ink/ink17.xml"/><Relationship Id="rId23" Type="http://schemas.openxmlformats.org/officeDocument/2006/relationships/customXml" Target="../ink/ink20.xml"/><Relationship Id="rId28" Type="http://schemas.openxmlformats.org/officeDocument/2006/relationships/customXml" Target="../ink/ink22.xml"/><Relationship Id="rId36" Type="http://schemas.openxmlformats.org/officeDocument/2006/relationships/customXml" Target="../ink/ink26.xml"/><Relationship Id="rId10" Type="http://schemas.openxmlformats.org/officeDocument/2006/relationships/customXml" Target="../ink/ink15.xml"/><Relationship Id="rId19" Type="http://schemas.openxmlformats.org/officeDocument/2006/relationships/image" Target="../media/image29.png"/><Relationship Id="rId31" Type="http://schemas.openxmlformats.org/officeDocument/2006/relationships/image" Target="../media/image33.png"/><Relationship Id="rId4" Type="http://schemas.openxmlformats.org/officeDocument/2006/relationships/image" Target="../media/image180.png"/><Relationship Id="rId9" Type="http://schemas.openxmlformats.org/officeDocument/2006/relationships/image" Target="../media/image240.png"/><Relationship Id="rId14" Type="http://schemas.openxmlformats.org/officeDocument/2006/relationships/image" Target="../media/image27.png"/><Relationship Id="rId22" Type="http://schemas.openxmlformats.org/officeDocument/2006/relationships/image" Target="../media/image31.png"/><Relationship Id="rId27" Type="http://schemas.openxmlformats.org/officeDocument/2006/relationships/image" Target="../media/image34.png"/><Relationship Id="rId30" Type="http://schemas.openxmlformats.org/officeDocument/2006/relationships/customXml" Target="../ink/ink23.xml"/><Relationship Id="rId35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4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13" Type="http://schemas.openxmlformats.org/officeDocument/2006/relationships/image" Target="../media/image54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customXml" Target="../ink/ink31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8.xml"/><Relationship Id="rId11" Type="http://schemas.openxmlformats.org/officeDocument/2006/relationships/image" Target="../media/image53.png"/><Relationship Id="rId5" Type="http://schemas.openxmlformats.org/officeDocument/2006/relationships/image" Target="../media/image49.png"/><Relationship Id="rId15" Type="http://schemas.openxmlformats.org/officeDocument/2006/relationships/image" Target="../media/image55.png"/><Relationship Id="rId10" Type="http://schemas.openxmlformats.org/officeDocument/2006/relationships/customXml" Target="../ink/ink30.xml"/><Relationship Id="rId4" Type="http://schemas.openxmlformats.org/officeDocument/2006/relationships/image" Target="../media/image48.png"/><Relationship Id="rId9" Type="http://schemas.openxmlformats.org/officeDocument/2006/relationships/image" Target="../media/image52.png"/><Relationship Id="rId14" Type="http://schemas.openxmlformats.org/officeDocument/2006/relationships/customXml" Target="../ink/ink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1781F-5CF3-4CEC-B157-1C4C3846AD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400" b="1" dirty="0" err="1">
                <a:latin typeface="+mn-ea"/>
                <a:ea typeface="+mn-ea"/>
              </a:rPr>
              <a:t>Epipolar</a:t>
            </a:r>
            <a:r>
              <a:rPr lang="en-US" altLang="ko-KR" sz="4400" b="1">
                <a:latin typeface="+mn-ea"/>
                <a:ea typeface="+mn-ea"/>
              </a:rPr>
              <a:t> Geometry</a:t>
            </a:r>
            <a:endParaRPr lang="ko-KR" altLang="en-US" sz="4400" b="1" dirty="0">
              <a:latin typeface="+mn-ea"/>
              <a:ea typeface="+mn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56F9A4-1262-4AD3-A52C-C93B5A691F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광운대학교 로봇학부</a:t>
            </a:r>
            <a:endParaRPr lang="en-US" altLang="ko-KR" sz="1800" dirty="0"/>
          </a:p>
          <a:p>
            <a:r>
              <a:rPr lang="en-US" altLang="ko-KR" sz="1800" dirty="0"/>
              <a:t>2018741022 </a:t>
            </a:r>
            <a:r>
              <a:rPr lang="ko-KR" altLang="en-US" sz="1800" dirty="0"/>
              <a:t>이기진</a:t>
            </a:r>
          </a:p>
        </p:txBody>
      </p:sp>
    </p:spTree>
    <p:extLst>
      <p:ext uri="{BB962C8B-B14F-4D97-AF65-F5344CB8AC3E}">
        <p14:creationId xmlns:p14="http://schemas.microsoft.com/office/powerpoint/2010/main" val="263640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80F7B-DCFF-4A3B-900C-A81D1B350A62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목차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7223BD5-730A-4C2C-9B55-791B05243963}"/>
              </a:ext>
            </a:extLst>
          </p:cNvPr>
          <p:cNvSpPr txBox="1"/>
          <p:nvPr/>
        </p:nvSpPr>
        <p:spPr>
          <a:xfrm>
            <a:off x="780472" y="866202"/>
            <a:ext cx="10631055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/>
              <a:t>Homogeneous Coordinates(Projective coordinates)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Epipolar</a:t>
            </a:r>
            <a:r>
              <a:rPr lang="en-US" altLang="ko-KR" dirty="0"/>
              <a:t> Geometry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/>
              <a:t>Epipolar</a:t>
            </a:r>
            <a:r>
              <a:rPr lang="en-US" altLang="ko-KR" sz="1800" dirty="0"/>
              <a:t> 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/>
              <a:t>Essential Matrix vs </a:t>
            </a:r>
            <a:r>
              <a:rPr lang="en-US" altLang="ko-KR" sz="1800" dirty="0" err="1"/>
              <a:t>Homography</a:t>
            </a:r>
            <a:endParaRPr lang="ko-KR" altLang="en-US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/>
              <a:t>Essential &amp; Fundamental</a:t>
            </a:r>
            <a:r>
              <a:rPr lang="ko-KR" altLang="en-US" sz="1800" dirty="0"/>
              <a:t> </a:t>
            </a:r>
            <a:r>
              <a:rPr lang="en-US" altLang="ko-KR" sz="1800" dirty="0"/>
              <a:t>Matrix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Essential Matrix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/>
              <a:t>Essential</a:t>
            </a:r>
            <a:r>
              <a:rPr lang="ko-KR" altLang="en-US" sz="1800" dirty="0"/>
              <a:t> </a:t>
            </a:r>
            <a:r>
              <a:rPr lang="en-US" altLang="ko-KR" sz="1800" dirty="0"/>
              <a:t>Matrix-Deriving relations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/>
              <a:t>Fundamental matrix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873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Homogeneous Coordinates(Projective coordinates)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C5E0DF-36FC-449B-8022-FBD60B49EEAC}"/>
              </a:ext>
            </a:extLst>
          </p:cNvPr>
          <p:cNvSpPr txBox="1"/>
          <p:nvPr/>
        </p:nvSpPr>
        <p:spPr>
          <a:xfrm>
            <a:off x="1099983" y="723428"/>
            <a:ext cx="10010503" cy="3006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Homogeneous: </a:t>
            </a:r>
            <a:r>
              <a:rPr lang="ko-KR" altLang="en-US" sz="1600" dirty="0"/>
              <a:t>수학에서는 </a:t>
            </a:r>
            <a:r>
              <a:rPr lang="en-US" altLang="ko-KR" sz="1600" dirty="0"/>
              <a:t>‘</a:t>
            </a:r>
            <a:r>
              <a:rPr lang="ko-KR" altLang="en-US" sz="1600" dirty="0"/>
              <a:t>동차의</a:t>
            </a:r>
            <a:r>
              <a:rPr lang="en-US" altLang="ko-KR" sz="1600" dirty="0"/>
              <a:t>’ </a:t>
            </a:r>
            <a:r>
              <a:rPr lang="ko-KR" altLang="en-US" sz="1600" dirty="0"/>
              <a:t>라는 뜻으로 사용된다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Projective Geometry: </a:t>
            </a:r>
            <a:r>
              <a:rPr lang="ko-KR" altLang="en-US" sz="1600" dirty="0"/>
              <a:t>사상기하학</a:t>
            </a:r>
            <a:r>
              <a:rPr lang="en-US" altLang="ko-KR" sz="1600" dirty="0"/>
              <a:t>. </a:t>
            </a:r>
            <a:r>
              <a:rPr lang="ko-KR" altLang="en-US" sz="1600" dirty="0"/>
              <a:t>기하학적 물체의 </a:t>
            </a:r>
            <a:r>
              <a:rPr lang="ko-KR" altLang="en-US" sz="1600" dirty="0" err="1"/>
              <a:t>사영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변환시</a:t>
            </a:r>
            <a:r>
              <a:rPr lang="en-US" altLang="ko-KR" sz="1600" dirty="0"/>
              <a:t>, </a:t>
            </a:r>
            <a:r>
              <a:rPr lang="ko-KR" altLang="en-US" sz="1600" dirty="0"/>
              <a:t>불변하는 특성들을 연구하는 학문</a:t>
            </a:r>
            <a:r>
              <a:rPr lang="en-US" altLang="ko-KR" sz="16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Homogeneous coordinates: </a:t>
            </a:r>
            <a:r>
              <a:rPr lang="ko-KR" altLang="en-US" sz="1600" dirty="0"/>
              <a:t>유클리드 기하학에서 </a:t>
            </a:r>
            <a:r>
              <a:rPr lang="en-US" altLang="ko-KR" sz="1600" dirty="0"/>
              <a:t>cartesian coordinates(</a:t>
            </a:r>
            <a:r>
              <a:rPr lang="ko-KR" altLang="en-US" sz="1600" dirty="0" err="1"/>
              <a:t>직교좌표계</a:t>
            </a:r>
            <a:r>
              <a:rPr lang="en-US" altLang="ko-KR" sz="1600" dirty="0"/>
              <a:t>)</a:t>
            </a:r>
            <a:r>
              <a:rPr lang="ko-KR" altLang="en-US" sz="1600" dirty="0"/>
              <a:t>가 사용되듯이</a:t>
            </a:r>
            <a:r>
              <a:rPr lang="en-US" altLang="ko-KR" sz="1600" dirty="0"/>
              <a:t>, Projective</a:t>
            </a:r>
            <a:r>
              <a:rPr lang="ko-KR" altLang="en-US" sz="1600" dirty="0"/>
              <a:t> </a:t>
            </a:r>
            <a:r>
              <a:rPr lang="en-US" altLang="ko-KR" sz="1600" dirty="0"/>
              <a:t>Geometry</a:t>
            </a:r>
            <a:r>
              <a:rPr lang="ko-KR" altLang="en-US" sz="1600" dirty="0"/>
              <a:t>에서 사용되는 좌표계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F0000"/>
                </a:solidFill>
              </a:rPr>
              <a:t>무한대의 점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 err="1">
                <a:solidFill>
                  <a:srgbClr val="FF0000"/>
                </a:solidFill>
              </a:rPr>
              <a:t>사영되는</a:t>
            </a:r>
            <a:r>
              <a:rPr lang="ko-KR" altLang="en-US" sz="1600" dirty="0">
                <a:solidFill>
                  <a:srgbClr val="FF0000"/>
                </a:solidFill>
              </a:rPr>
              <a:t> 직선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  <a:r>
              <a:rPr lang="ko-KR" altLang="en-US" sz="1600" dirty="0">
                <a:solidFill>
                  <a:srgbClr val="FF0000"/>
                </a:solidFill>
              </a:rPr>
              <a:t>을 유한좌표로 표현할 수 있다</a:t>
            </a:r>
            <a:r>
              <a:rPr lang="ko-KR" altLang="en-US" sz="1600" dirty="0"/>
              <a:t>라는 장점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Affine/Perspective </a:t>
            </a:r>
            <a:r>
              <a:rPr lang="ko-KR" altLang="en-US" sz="1600" dirty="0"/>
              <a:t>변환을 단일 행렬로 표현할 수 있기 때문에 </a:t>
            </a:r>
            <a:r>
              <a:rPr lang="en-US" altLang="ko-KR" sz="1600" dirty="0"/>
              <a:t>computer graphics, 3d computer vision</a:t>
            </a:r>
            <a:r>
              <a:rPr lang="ko-KR" altLang="en-US" sz="1600" dirty="0"/>
              <a:t>에서 주로 사용됨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Homogeneous Coordinates: </a:t>
            </a:r>
            <a:r>
              <a:rPr lang="ko-KR" altLang="en-US" sz="1600" dirty="0"/>
              <a:t>일반적으로 </a:t>
            </a:r>
            <a:r>
              <a:rPr lang="en-US" altLang="ko-KR" sz="1600" dirty="0"/>
              <a:t>0</a:t>
            </a:r>
            <a:r>
              <a:rPr lang="ko-KR" altLang="en-US" sz="1600" dirty="0"/>
              <a:t>이 아닌 상수 </a:t>
            </a:r>
            <a:r>
              <a:rPr lang="en-US" altLang="ko-KR" sz="1600" dirty="0"/>
              <a:t>w</a:t>
            </a:r>
            <a:r>
              <a:rPr lang="ko-KR" altLang="en-US" sz="1600" dirty="0"/>
              <a:t>에 대해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x,y</a:t>
            </a:r>
            <a:r>
              <a:rPr lang="en-US" altLang="ko-KR" sz="1600" dirty="0"/>
              <a:t>)</a:t>
            </a:r>
            <a:r>
              <a:rPr lang="ko-KR" altLang="en-US" sz="1600" dirty="0"/>
              <a:t>를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wx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wy</a:t>
            </a:r>
            <a:r>
              <a:rPr lang="en-US" altLang="ko-KR" sz="1600" dirty="0"/>
              <a:t>, w)</a:t>
            </a:r>
            <a:r>
              <a:rPr lang="ko-KR" altLang="en-US" sz="1600" dirty="0"/>
              <a:t>로 표현하는 것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26B65C-15C0-48B6-9674-857D3541C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451" y="4014650"/>
            <a:ext cx="2503097" cy="250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79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/>
              <a:t>Epipolar</a:t>
            </a:r>
            <a:r>
              <a:rPr lang="en-US" altLang="ko-KR" sz="2800" b="1" dirty="0"/>
              <a:t> Geometry</a:t>
            </a:r>
            <a:endParaRPr lang="ko-KR" altLang="en-US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7C2090-2F87-475B-AC99-8CD14819D76C}"/>
              </a:ext>
            </a:extLst>
          </p:cNvPr>
          <p:cNvSpPr txBox="1"/>
          <p:nvPr/>
        </p:nvSpPr>
        <p:spPr>
          <a:xfrm>
            <a:off x="674254" y="801189"/>
            <a:ext cx="3862912" cy="37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왜 사용되는가</a:t>
            </a:r>
            <a:r>
              <a:rPr lang="en-US" altLang="ko-KR" b="1" dirty="0"/>
              <a:t>? (Visual Odometry)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E5EFE-D647-4391-B40B-50129322FB63}"/>
              </a:ext>
            </a:extLst>
          </p:cNvPr>
          <p:cNvSpPr txBox="1"/>
          <p:nvPr/>
        </p:nvSpPr>
        <p:spPr>
          <a:xfrm>
            <a:off x="683490" y="1175657"/>
            <a:ext cx="8025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실시간으로 움직이는 카메라</a:t>
            </a:r>
            <a:r>
              <a:rPr lang="en-US" altLang="ko-KR" sz="1600" dirty="0"/>
              <a:t>(=</a:t>
            </a:r>
            <a:r>
              <a:rPr lang="ko-KR" altLang="en-US" sz="1600" dirty="0"/>
              <a:t>자율주행차</a:t>
            </a:r>
            <a:r>
              <a:rPr lang="en-US" altLang="ko-KR" sz="1600" dirty="0"/>
              <a:t>)</a:t>
            </a:r>
            <a:r>
              <a:rPr lang="ko-KR" altLang="en-US" sz="1600" dirty="0"/>
              <a:t>에 투영된 사물들의 특징점을 잡아서</a:t>
            </a:r>
            <a:r>
              <a:rPr lang="en-US" altLang="ko-KR" sz="1600" dirty="0"/>
              <a:t>, </a:t>
            </a:r>
            <a:r>
              <a:rPr lang="ko-KR" altLang="en-US" sz="1600" dirty="0"/>
              <a:t>프레임별로 비교하여 현재 카메라</a:t>
            </a:r>
            <a:r>
              <a:rPr lang="en-US" altLang="ko-KR" sz="1600" dirty="0"/>
              <a:t>(=</a:t>
            </a:r>
            <a:r>
              <a:rPr lang="ko-KR" altLang="en-US" sz="1600" dirty="0"/>
              <a:t>자동차</a:t>
            </a:r>
            <a:r>
              <a:rPr lang="en-US" altLang="ko-KR" sz="1600" dirty="0"/>
              <a:t>)</a:t>
            </a:r>
            <a:r>
              <a:rPr lang="ko-KR" altLang="en-US" sz="1600" dirty="0"/>
              <a:t>의 위치를 업데이트하며 주행하기  위함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15" name="그림 14" descr="나무, 현관, 식물, 정원이(가) 표시된 사진&#10;&#10;자동 생성된 설명">
            <a:extLst>
              <a:ext uri="{FF2B5EF4-FFF2-40B4-BE49-F238E27FC236}">
                <a16:creationId xmlns:a16="http://schemas.microsoft.com/office/drawing/2014/main" id="{C975667B-5AC5-452B-A1C9-2F7279C75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60" y="1971422"/>
            <a:ext cx="6021983" cy="1817401"/>
          </a:xfrm>
          <a:prstGeom prst="rect">
            <a:avLst/>
          </a:prstGeom>
        </p:spPr>
      </p:pic>
      <p:pic>
        <p:nvPicPr>
          <p:cNvPr id="17" name="그림 16" descr="나무이(가) 표시된 사진&#10;&#10;자동 생성된 설명">
            <a:extLst>
              <a:ext uri="{FF2B5EF4-FFF2-40B4-BE49-F238E27FC236}">
                <a16:creationId xmlns:a16="http://schemas.microsoft.com/office/drawing/2014/main" id="{B6D3A6CC-FCF9-487B-8CD9-0BB8E4619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60" y="4424351"/>
            <a:ext cx="6021980" cy="1817400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C31C8A9-38FB-4313-82BD-B7E7242B6901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3433350" y="3788823"/>
            <a:ext cx="2" cy="63552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F08AA2A-E282-4A4A-9B0F-5595C7E34CE5}"/>
              </a:ext>
            </a:extLst>
          </p:cNvPr>
          <p:cNvSpPr txBox="1"/>
          <p:nvPr/>
        </p:nvSpPr>
        <p:spPr>
          <a:xfrm>
            <a:off x="3433350" y="3921921"/>
            <a:ext cx="1445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다음 프레임</a:t>
            </a:r>
          </a:p>
        </p:txBody>
      </p:sp>
      <p:pic>
        <p:nvPicPr>
          <p:cNvPr id="33" name="그림 32" descr="화살이(가) 표시된 사진&#10;&#10;자동 생성된 설명">
            <a:extLst>
              <a:ext uri="{FF2B5EF4-FFF2-40B4-BE49-F238E27FC236}">
                <a16:creationId xmlns:a16="http://schemas.microsoft.com/office/drawing/2014/main" id="{1CF9FDB9-C2EE-4A33-A501-8E9E242A05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636" y="2718270"/>
            <a:ext cx="4139558" cy="25466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224A9B43-8916-4CC3-8FBD-2DCC517FD4D7}"/>
                  </a:ext>
                </a:extLst>
              </p14:cNvPr>
              <p14:cNvContentPartPr/>
              <p14:nvPr/>
            </p14:nvContentPartPr>
            <p14:xfrm>
              <a:off x="6440710" y="4527420"/>
              <a:ext cx="4494240" cy="124560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224A9B43-8916-4CC3-8FBD-2DCC517FD4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31710" y="4518420"/>
                <a:ext cx="4511880" cy="12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548AA8AB-15A6-4D20-91C3-259DB6436A56}"/>
                  </a:ext>
                </a:extLst>
              </p14:cNvPr>
              <p14:cNvContentPartPr/>
              <p14:nvPr/>
            </p14:nvContentPartPr>
            <p14:xfrm>
              <a:off x="6432430" y="2812740"/>
              <a:ext cx="1488240" cy="145548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548AA8AB-15A6-4D20-91C3-259DB6436A5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23430" y="2804100"/>
                <a:ext cx="1505880" cy="147312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F90B9391-3247-4359-BE9D-CB7D2877F111}"/>
              </a:ext>
            </a:extLst>
          </p:cNvPr>
          <p:cNvSpPr txBox="1"/>
          <p:nvPr/>
        </p:nvSpPr>
        <p:spPr>
          <a:xfrm>
            <a:off x="6442930" y="3589889"/>
            <a:ext cx="1733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8000"/>
                </a:solidFill>
              </a:rPr>
              <a:t>이때 카메라의 위치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0C3DDA-2C23-4067-92D9-646C1C55DA2E}"/>
              </a:ext>
            </a:extLst>
          </p:cNvPr>
          <p:cNvSpPr txBox="1"/>
          <p:nvPr/>
        </p:nvSpPr>
        <p:spPr>
          <a:xfrm>
            <a:off x="6512780" y="5537538"/>
            <a:ext cx="1733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8000"/>
                </a:solidFill>
              </a:rPr>
              <a:t>이때 카메라의 위치</a:t>
            </a:r>
          </a:p>
        </p:txBody>
      </p:sp>
    </p:spTree>
    <p:extLst>
      <p:ext uri="{BB962C8B-B14F-4D97-AF65-F5344CB8AC3E}">
        <p14:creationId xmlns:p14="http://schemas.microsoft.com/office/powerpoint/2010/main" val="294745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/>
              <a:t>Epipolar</a:t>
            </a:r>
            <a:r>
              <a:rPr lang="en-US" altLang="ko-KR" sz="2800" b="1" dirty="0"/>
              <a:t> Geometry</a:t>
            </a:r>
            <a:endParaRPr lang="ko-KR" alt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4CD43-84E2-4AE2-A806-5CBCFEF75481}"/>
              </a:ext>
            </a:extLst>
          </p:cNvPr>
          <p:cNvSpPr txBox="1"/>
          <p:nvPr/>
        </p:nvSpPr>
        <p:spPr>
          <a:xfrm>
            <a:off x="1066800" y="888274"/>
            <a:ext cx="10098505" cy="79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동일한 사물</a:t>
            </a:r>
            <a:r>
              <a:rPr lang="en-US" altLang="ko-KR" sz="1600" dirty="0"/>
              <a:t>, </a:t>
            </a:r>
            <a:r>
              <a:rPr lang="ko-KR" altLang="en-US" sz="1600" dirty="0"/>
              <a:t>장면에 대한 영상을 서로 다른 두 지점에서 봤을 때</a:t>
            </a:r>
            <a:r>
              <a:rPr lang="en-US" altLang="ko-KR" sz="1600" dirty="0"/>
              <a:t>(stereo-view), </a:t>
            </a:r>
            <a:r>
              <a:rPr lang="ko-KR" altLang="en-US" sz="1600" dirty="0"/>
              <a:t>그 사이의 기하학적 관계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 err="1"/>
              <a:t>Epipolar</a:t>
            </a:r>
            <a:r>
              <a:rPr lang="en-US" altLang="ko-KR" sz="1600" dirty="0"/>
              <a:t> geometry</a:t>
            </a:r>
            <a:r>
              <a:rPr lang="ko-KR" altLang="en-US" sz="1600" dirty="0"/>
              <a:t>를 이용하여 </a:t>
            </a:r>
            <a:r>
              <a:rPr lang="en-US" altLang="ko-KR" sz="1600" dirty="0"/>
              <a:t>Essential Matrix</a:t>
            </a:r>
            <a:r>
              <a:rPr lang="ko-KR" altLang="en-US" sz="1600" dirty="0"/>
              <a:t>를 구할 수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6" name="그림 5" descr="화살이(가) 표시된 사진&#10;&#10;자동 생성된 설명">
            <a:extLst>
              <a:ext uri="{FF2B5EF4-FFF2-40B4-BE49-F238E27FC236}">
                <a16:creationId xmlns:a16="http://schemas.microsoft.com/office/drawing/2014/main" id="{2B2B589D-8460-4D0D-979B-65BFD339C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99" y="2384085"/>
            <a:ext cx="4139558" cy="25466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F14456-24DC-438F-B334-DF4BEAF17FBD}"/>
              </a:ext>
            </a:extLst>
          </p:cNvPr>
          <p:cNvSpPr txBox="1"/>
          <p:nvPr/>
        </p:nvSpPr>
        <p:spPr>
          <a:xfrm>
            <a:off x="4528457" y="2325187"/>
            <a:ext cx="7063178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3</a:t>
            </a:r>
            <a:r>
              <a:rPr lang="ko-KR" altLang="en-US" sz="1600" dirty="0"/>
              <a:t>차원 상의 점 </a:t>
            </a:r>
            <a:r>
              <a:rPr lang="en-US" altLang="ko-KR" sz="1600" dirty="0"/>
              <a:t>P</a:t>
            </a:r>
            <a:r>
              <a:rPr lang="ko-KR" altLang="en-US" sz="1600" dirty="0"/>
              <a:t>가 </a:t>
            </a:r>
            <a:r>
              <a:rPr lang="en-US" altLang="ko-KR" sz="1600" dirty="0"/>
              <a:t>A, B</a:t>
            </a:r>
            <a:r>
              <a:rPr lang="ko-KR" altLang="en-US" sz="1600" dirty="0"/>
              <a:t>에 투영되는 점을 </a:t>
            </a:r>
            <a:r>
              <a:rPr lang="en-US" altLang="ko-KR" sz="1600" dirty="0"/>
              <a:t>p, p’, </a:t>
            </a:r>
            <a:r>
              <a:rPr lang="ko-KR" altLang="en-US" sz="1600" dirty="0"/>
              <a:t>두 카메라의 </a:t>
            </a:r>
            <a:r>
              <a:rPr lang="ko-KR" altLang="en-US" sz="1600" dirty="0">
                <a:solidFill>
                  <a:srgbClr val="FF0000"/>
                </a:solidFill>
              </a:rPr>
              <a:t>원점</a:t>
            </a:r>
            <a:r>
              <a:rPr lang="ko-KR" altLang="en-US" sz="1600" dirty="0"/>
              <a:t>을 잇는 선과 이미지 평면이 만나는 점</a:t>
            </a:r>
            <a:r>
              <a:rPr lang="en-US" altLang="ko-KR" sz="1600" dirty="0"/>
              <a:t>e, e’</a:t>
            </a:r>
            <a:r>
              <a:rPr lang="ko-KR" altLang="en-US" sz="1600" dirty="0"/>
              <a:t>를 </a:t>
            </a:r>
            <a:r>
              <a:rPr lang="en-US" altLang="ko-KR" sz="1600" dirty="0" err="1">
                <a:solidFill>
                  <a:srgbClr val="008000"/>
                </a:solidFill>
              </a:rPr>
              <a:t>epipole</a:t>
            </a:r>
            <a:r>
              <a:rPr lang="en-US" altLang="ko-KR" sz="1600" dirty="0">
                <a:solidFill>
                  <a:srgbClr val="008000"/>
                </a:solidFill>
              </a:rPr>
              <a:t> </a:t>
            </a:r>
            <a:r>
              <a:rPr lang="ko-KR" altLang="en-US" sz="1600" dirty="0"/>
              <a:t>이라고 함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두 카메라 사이의 위치는 기하학적으로 </a:t>
            </a:r>
            <a:r>
              <a:rPr lang="en-US" altLang="ko-KR" sz="1600" dirty="0"/>
              <a:t>[R(rotation)|T(Translation)]</a:t>
            </a:r>
            <a:r>
              <a:rPr lang="ko-KR" altLang="en-US" sz="1600" dirty="0"/>
              <a:t>으로 나타낼 수 있음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p’</a:t>
            </a:r>
            <a:r>
              <a:rPr lang="ko-KR" altLang="en-US" sz="1600" dirty="0"/>
              <a:t>의 정확한 위치를 알 순 없으나</a:t>
            </a:r>
            <a:r>
              <a:rPr lang="en-US" altLang="ko-KR" sz="1600" dirty="0"/>
              <a:t>, </a:t>
            </a:r>
            <a:r>
              <a:rPr lang="ko-KR" altLang="en-US" sz="1600" dirty="0"/>
              <a:t>카메라 </a:t>
            </a:r>
            <a:r>
              <a:rPr lang="en-US" altLang="ko-KR" sz="1600" dirty="0"/>
              <a:t>A</a:t>
            </a:r>
            <a:r>
              <a:rPr lang="ko-KR" altLang="en-US" sz="1600" dirty="0"/>
              <a:t>의 중심과 </a:t>
            </a:r>
            <a:r>
              <a:rPr lang="en-US" altLang="ko-KR" sz="1600" dirty="0"/>
              <a:t>p</a:t>
            </a:r>
            <a:r>
              <a:rPr lang="ko-KR" altLang="en-US" sz="1600" dirty="0"/>
              <a:t>점을 이은 직선의 </a:t>
            </a:r>
            <a:r>
              <a:rPr lang="en-US" altLang="ko-KR" sz="1600" dirty="0"/>
              <a:t>B</a:t>
            </a:r>
            <a:r>
              <a:rPr lang="ko-KR" altLang="en-US" sz="1600" dirty="0"/>
              <a:t>로의 </a:t>
            </a:r>
            <a:r>
              <a:rPr lang="ko-KR" altLang="en-US" sz="1600" dirty="0" err="1"/>
              <a:t>정사영</a:t>
            </a:r>
            <a:r>
              <a:rPr lang="ko-KR" altLang="en-US" sz="1600" dirty="0"/>
              <a:t> 직선</a:t>
            </a:r>
            <a:r>
              <a:rPr lang="en-US" altLang="ko-KR" sz="1600" dirty="0">
                <a:solidFill>
                  <a:srgbClr val="008000"/>
                </a:solidFill>
              </a:rPr>
              <a:t>(</a:t>
            </a:r>
            <a:r>
              <a:rPr lang="en-US" altLang="ko-KR" sz="1600" dirty="0" err="1">
                <a:solidFill>
                  <a:srgbClr val="008000"/>
                </a:solidFill>
              </a:rPr>
              <a:t>epipolar</a:t>
            </a:r>
            <a:r>
              <a:rPr lang="en-US" altLang="ko-KR" sz="1600" dirty="0">
                <a:solidFill>
                  <a:srgbClr val="008000"/>
                </a:solidFill>
              </a:rPr>
              <a:t> line)</a:t>
            </a:r>
            <a:r>
              <a:rPr lang="ko-KR" altLang="en-US" sz="1600" dirty="0"/>
              <a:t> 위에 </a:t>
            </a:r>
            <a:r>
              <a:rPr lang="en-US" altLang="ko-KR" sz="1600" dirty="0"/>
              <a:t>p’</a:t>
            </a:r>
            <a:r>
              <a:rPr lang="ko-KR" altLang="en-US" sz="1600" dirty="0"/>
              <a:t>가 존재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solidFill>
                  <a:srgbClr val="0070C0"/>
                </a:solidFill>
              </a:rPr>
              <a:t>어떻게 </a:t>
            </a:r>
            <a:r>
              <a:rPr lang="en-US" altLang="ko-KR" sz="1600" dirty="0" err="1">
                <a:solidFill>
                  <a:srgbClr val="0070C0"/>
                </a:solidFill>
              </a:rPr>
              <a:t>epipolar</a:t>
            </a:r>
            <a:r>
              <a:rPr lang="en-US" altLang="ko-KR" sz="1600" dirty="0">
                <a:solidFill>
                  <a:srgbClr val="0070C0"/>
                </a:solidFill>
              </a:rPr>
              <a:t> line</a:t>
            </a:r>
            <a:r>
              <a:rPr lang="ko-KR" altLang="en-US" sz="1600" dirty="0">
                <a:solidFill>
                  <a:srgbClr val="0070C0"/>
                </a:solidFill>
              </a:rPr>
              <a:t>을 계산할까</a:t>
            </a:r>
            <a:r>
              <a:rPr lang="en-US" altLang="ko-KR" sz="1600" dirty="0">
                <a:solidFill>
                  <a:srgbClr val="0070C0"/>
                </a:solidFill>
              </a:rPr>
              <a:t>???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2E8C0A6-9BAE-45B3-A446-E69E3CB2A650}"/>
              </a:ext>
            </a:extLst>
          </p:cNvPr>
          <p:cNvGrpSpPr/>
          <p:nvPr/>
        </p:nvGrpSpPr>
        <p:grpSpPr>
          <a:xfrm>
            <a:off x="2521037" y="4160515"/>
            <a:ext cx="1255491" cy="925540"/>
            <a:chOff x="2332439" y="4101617"/>
            <a:chExt cx="1255491" cy="925540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3612CF57-23D8-4F1B-AF4C-2C6F276F4B2B}"/>
                </a:ext>
              </a:extLst>
            </p:cNvPr>
            <p:cNvGrpSpPr/>
            <p:nvPr/>
          </p:nvGrpSpPr>
          <p:grpSpPr>
            <a:xfrm>
              <a:off x="2332440" y="4101617"/>
              <a:ext cx="246240" cy="613080"/>
              <a:chOff x="2332440" y="4101617"/>
              <a:chExt cx="246240" cy="613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9" name="잉크 8">
                    <a:extLst>
                      <a:ext uri="{FF2B5EF4-FFF2-40B4-BE49-F238E27FC236}">
                        <a16:creationId xmlns:a16="http://schemas.microsoft.com/office/drawing/2014/main" id="{74C5DFAC-A9A2-4558-A925-662A9985D5C9}"/>
                      </a:ext>
                    </a:extLst>
                  </p14:cNvPr>
                  <p14:cNvContentPartPr/>
                  <p14:nvPr/>
                </p14:nvContentPartPr>
                <p14:xfrm>
                  <a:off x="2332440" y="4101617"/>
                  <a:ext cx="216000" cy="613080"/>
                </p14:xfrm>
              </p:contentPart>
            </mc:Choice>
            <mc:Fallback xmlns="">
              <p:pic>
                <p:nvPicPr>
                  <p:cNvPr id="9" name="잉크 8">
                    <a:extLst>
                      <a:ext uri="{FF2B5EF4-FFF2-40B4-BE49-F238E27FC236}">
                        <a16:creationId xmlns:a16="http://schemas.microsoft.com/office/drawing/2014/main" id="{74C5DFAC-A9A2-4558-A925-662A9985D5C9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323440" y="4092617"/>
                    <a:ext cx="233640" cy="630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0" name="잉크 9">
                    <a:extLst>
                      <a:ext uri="{FF2B5EF4-FFF2-40B4-BE49-F238E27FC236}">
                        <a16:creationId xmlns:a16="http://schemas.microsoft.com/office/drawing/2014/main" id="{1881BEC7-E32B-4973-86D4-E5F9840BB6F1}"/>
                      </a:ext>
                    </a:extLst>
                  </p14:cNvPr>
                  <p14:cNvContentPartPr/>
                  <p14:nvPr/>
                </p14:nvContentPartPr>
                <p14:xfrm>
                  <a:off x="2490480" y="4634417"/>
                  <a:ext cx="88200" cy="77400"/>
                </p14:xfrm>
              </p:contentPart>
            </mc:Choice>
            <mc:Fallback xmlns="">
              <p:pic>
                <p:nvPicPr>
                  <p:cNvPr id="10" name="잉크 9">
                    <a:extLst>
                      <a:ext uri="{FF2B5EF4-FFF2-40B4-BE49-F238E27FC236}">
                        <a16:creationId xmlns:a16="http://schemas.microsoft.com/office/drawing/2014/main" id="{1881BEC7-E32B-4973-86D4-E5F9840BB6F1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481840" y="4625417"/>
                    <a:ext cx="105840" cy="9504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284081-4375-4634-A1C8-B8C54FA54450}"/>
                </a:ext>
              </a:extLst>
            </p:cNvPr>
            <p:cNvSpPr txBox="1"/>
            <p:nvPr/>
          </p:nvSpPr>
          <p:spPr>
            <a:xfrm>
              <a:off x="2332439" y="4719380"/>
              <a:ext cx="12554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rgbClr val="00B0F0"/>
                  </a:solidFill>
                </a:rPr>
                <a:t>baseline</a:t>
              </a:r>
              <a:endParaRPr lang="ko-KR" altLang="en-US" sz="14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9EBB04A-98AB-49D9-B7AE-AD1C2B709610}"/>
              </a:ext>
            </a:extLst>
          </p:cNvPr>
          <p:cNvGrpSpPr/>
          <p:nvPr/>
        </p:nvGrpSpPr>
        <p:grpSpPr>
          <a:xfrm>
            <a:off x="1193580" y="2392918"/>
            <a:ext cx="3165221" cy="1245792"/>
            <a:chOff x="1193580" y="2392918"/>
            <a:chExt cx="3165221" cy="124579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F1082B5-9E48-4E16-AE84-F25B8BA392DF}"/>
                </a:ext>
              </a:extLst>
            </p:cNvPr>
            <p:cNvSpPr txBox="1"/>
            <p:nvPr/>
          </p:nvSpPr>
          <p:spPr>
            <a:xfrm>
              <a:off x="2781461" y="2392918"/>
              <a:ext cx="1577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dirty="0" err="1">
                  <a:solidFill>
                    <a:srgbClr val="008000"/>
                  </a:solidFill>
                </a:rPr>
                <a:t>epipolar</a:t>
              </a:r>
              <a:r>
                <a:rPr lang="en-US" altLang="ko-KR" sz="1800" dirty="0">
                  <a:solidFill>
                    <a:srgbClr val="008000"/>
                  </a:solidFill>
                </a:rPr>
                <a:t> line</a:t>
              </a:r>
              <a:endParaRPr lang="ko-KR" altLang="en-US" dirty="0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D7747D-2BD3-4D58-BC61-D1D63B2F9AA8}"/>
                </a:ext>
              </a:extLst>
            </p:cNvPr>
            <p:cNvGrpSpPr/>
            <p:nvPr/>
          </p:nvGrpSpPr>
          <p:grpSpPr>
            <a:xfrm>
              <a:off x="1193580" y="2771110"/>
              <a:ext cx="2152800" cy="867600"/>
              <a:chOff x="1193580" y="2771110"/>
              <a:chExt cx="2152800" cy="867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26" name="잉크 25">
                    <a:extLst>
                      <a:ext uri="{FF2B5EF4-FFF2-40B4-BE49-F238E27FC236}">
                        <a16:creationId xmlns:a16="http://schemas.microsoft.com/office/drawing/2014/main" id="{C244174E-E11E-4FE5-8712-65D633C5D71D}"/>
                      </a:ext>
                    </a:extLst>
                  </p14:cNvPr>
                  <p14:cNvContentPartPr/>
                  <p14:nvPr/>
                </p14:nvContentPartPr>
                <p14:xfrm>
                  <a:off x="1193580" y="2771110"/>
                  <a:ext cx="1673640" cy="532080"/>
                </p14:xfrm>
              </p:contentPart>
            </mc:Choice>
            <mc:Fallback xmlns="">
              <p:pic>
                <p:nvPicPr>
                  <p:cNvPr id="26" name="잉크 25">
                    <a:extLst>
                      <a:ext uri="{FF2B5EF4-FFF2-40B4-BE49-F238E27FC236}">
                        <a16:creationId xmlns:a16="http://schemas.microsoft.com/office/drawing/2014/main" id="{C244174E-E11E-4FE5-8712-65D633C5D71D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184940" y="2762470"/>
                    <a:ext cx="1691280" cy="549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27" name="잉크 26">
                    <a:extLst>
                      <a:ext uri="{FF2B5EF4-FFF2-40B4-BE49-F238E27FC236}">
                        <a16:creationId xmlns:a16="http://schemas.microsoft.com/office/drawing/2014/main" id="{2D00C820-B343-4136-B89F-2B1D6E96BB83}"/>
                      </a:ext>
                    </a:extLst>
                  </p14:cNvPr>
                  <p14:cNvContentPartPr/>
                  <p14:nvPr/>
                </p14:nvContentPartPr>
                <p14:xfrm>
                  <a:off x="2787660" y="2774350"/>
                  <a:ext cx="88560" cy="93600"/>
                </p14:xfrm>
              </p:contentPart>
            </mc:Choice>
            <mc:Fallback xmlns="">
              <p:pic>
                <p:nvPicPr>
                  <p:cNvPr id="27" name="잉크 26">
                    <a:extLst>
                      <a:ext uri="{FF2B5EF4-FFF2-40B4-BE49-F238E27FC236}">
                        <a16:creationId xmlns:a16="http://schemas.microsoft.com/office/drawing/2014/main" id="{2D00C820-B343-4136-B89F-2B1D6E96BB83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778660" y="2765710"/>
                    <a:ext cx="106200" cy="111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30" name="잉크 29">
                    <a:extLst>
                      <a:ext uri="{FF2B5EF4-FFF2-40B4-BE49-F238E27FC236}">
                        <a16:creationId xmlns:a16="http://schemas.microsoft.com/office/drawing/2014/main" id="{81822462-EBB8-4F5D-BEC1-F2F9B9370818}"/>
                      </a:ext>
                    </a:extLst>
                  </p14:cNvPr>
                  <p14:cNvContentPartPr/>
                  <p14:nvPr/>
                </p14:nvContentPartPr>
                <p14:xfrm>
                  <a:off x="3257100" y="2838790"/>
                  <a:ext cx="89280" cy="799920"/>
                </p14:xfrm>
              </p:contentPart>
            </mc:Choice>
            <mc:Fallback xmlns="">
              <p:pic>
                <p:nvPicPr>
                  <p:cNvPr id="30" name="잉크 29">
                    <a:extLst>
                      <a:ext uri="{FF2B5EF4-FFF2-40B4-BE49-F238E27FC236}">
                        <a16:creationId xmlns:a16="http://schemas.microsoft.com/office/drawing/2014/main" id="{81822462-EBB8-4F5D-BEC1-F2F9B9370818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3248460" y="2830150"/>
                    <a:ext cx="106920" cy="81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31" name="잉크 30">
                    <a:extLst>
                      <a:ext uri="{FF2B5EF4-FFF2-40B4-BE49-F238E27FC236}">
                        <a16:creationId xmlns:a16="http://schemas.microsoft.com/office/drawing/2014/main" id="{61EE83FA-ED9F-4792-8774-0F121547E852}"/>
                      </a:ext>
                    </a:extLst>
                  </p14:cNvPr>
                  <p14:cNvContentPartPr/>
                  <p14:nvPr/>
                </p14:nvContentPartPr>
                <p14:xfrm>
                  <a:off x="3187620" y="2845270"/>
                  <a:ext cx="155520" cy="41400"/>
                </p14:xfrm>
              </p:contentPart>
            </mc:Choice>
            <mc:Fallback xmlns="">
              <p:pic>
                <p:nvPicPr>
                  <p:cNvPr id="31" name="잉크 30">
                    <a:extLst>
                      <a:ext uri="{FF2B5EF4-FFF2-40B4-BE49-F238E27FC236}">
                        <a16:creationId xmlns:a16="http://schemas.microsoft.com/office/drawing/2014/main" id="{61EE83FA-ED9F-4792-8774-0F121547E852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3178620" y="2836270"/>
                    <a:ext cx="173160" cy="590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D00B8B95-D5B0-4E9A-ACD2-917FA280A37C}"/>
                  </a:ext>
                </a:extLst>
              </p14:cNvPr>
              <p14:cNvContentPartPr/>
              <p14:nvPr/>
            </p14:nvContentPartPr>
            <p14:xfrm>
              <a:off x="1499430" y="3967793"/>
              <a:ext cx="48600" cy="48240"/>
            </p14:xfrm>
          </p:contentPart>
        </mc:Choice>
        <mc:Fallback xmlns=""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D00B8B95-D5B0-4E9A-ACD2-917FA280A37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90430" y="3958793"/>
                <a:ext cx="662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7" name="잉크 36">
                <a:extLst>
                  <a:ext uri="{FF2B5EF4-FFF2-40B4-BE49-F238E27FC236}">
                    <a16:creationId xmlns:a16="http://schemas.microsoft.com/office/drawing/2014/main" id="{D8C9720B-611B-40D9-A27C-EBB86F736BC9}"/>
                  </a:ext>
                </a:extLst>
              </p14:cNvPr>
              <p14:cNvContentPartPr/>
              <p14:nvPr/>
            </p14:nvContentPartPr>
            <p14:xfrm>
              <a:off x="3216060" y="4101625"/>
              <a:ext cx="48600" cy="59400"/>
            </p14:xfrm>
          </p:contentPart>
        </mc:Choice>
        <mc:Fallback xmlns="">
          <p:pic>
            <p:nvPicPr>
              <p:cNvPr id="37" name="잉크 36">
                <a:extLst>
                  <a:ext uri="{FF2B5EF4-FFF2-40B4-BE49-F238E27FC236}">
                    <a16:creationId xmlns:a16="http://schemas.microsoft.com/office/drawing/2014/main" id="{D8C9720B-611B-40D9-A27C-EBB86F736BC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07060" y="4092625"/>
                <a:ext cx="66240" cy="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0282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/>
              <a:t>Epipolar</a:t>
            </a:r>
            <a:r>
              <a:rPr lang="en-US" altLang="ko-KR" sz="2800" b="1" dirty="0"/>
              <a:t> Geometry</a:t>
            </a:r>
            <a:endParaRPr lang="ko-KR" alt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D4021C4-CAE0-4C6F-9873-3B503C2891D5}"/>
                  </a:ext>
                </a:extLst>
              </p:cNvPr>
              <p:cNvSpPr txBox="1"/>
              <p:nvPr/>
            </p:nvSpPr>
            <p:spPr>
              <a:xfrm>
                <a:off x="4062682" y="3579555"/>
                <a:ext cx="7731432" cy="1421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600" dirty="0">
                    <a:solidFill>
                      <a:srgbClr val="FF0000"/>
                    </a:solidFill>
                  </a:rPr>
                  <a:t>핵심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: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두 </a:t>
                </a:r>
                <a:r>
                  <a:rPr lang="en-US" altLang="ko-KR" sz="1600" dirty="0"/>
                  <a:t>image plane</a:t>
                </a:r>
                <a:r>
                  <a:rPr lang="ko-KR" altLang="en-US" sz="1600" dirty="0"/>
                  <a:t>상의 </a:t>
                </a:r>
                <a:r>
                  <a:rPr lang="en-US" altLang="ko-KR" sz="1600" dirty="0"/>
                  <a:t>x, x’ (homogeneous)</a:t>
                </a:r>
                <a:r>
                  <a:rPr lang="ko-KR" altLang="en-US" sz="1600" dirty="0"/>
                  <a:t>좌표 사이에 다음의 관계식이 만족</a:t>
                </a:r>
                <a:endParaRPr lang="en-US" altLang="ko-KR" sz="16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ko-KR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sz="16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ko-KR" altLang="en-US" sz="1400" dirty="0"/>
                  <a:t>이 식을 </a:t>
                </a:r>
                <a:r>
                  <a:rPr lang="en-US" altLang="ko-KR" sz="1400" dirty="0" err="1">
                    <a:solidFill>
                      <a:srgbClr val="FF33CC"/>
                    </a:solidFill>
                  </a:rPr>
                  <a:t>epipolar</a:t>
                </a:r>
                <a:r>
                  <a:rPr lang="en-US" altLang="ko-KR" sz="1400" dirty="0">
                    <a:solidFill>
                      <a:srgbClr val="FF33CC"/>
                    </a:solidFill>
                  </a:rPr>
                  <a:t>(coplanarity) constraint</a:t>
                </a:r>
                <a:r>
                  <a:rPr lang="en-US" altLang="ko-KR" sz="1400" dirty="0"/>
                  <a:t>, E(3x3)</a:t>
                </a:r>
                <a:r>
                  <a:rPr lang="ko-KR" altLang="en-US" sz="1400" dirty="0"/>
                  <a:t>행렬을 </a:t>
                </a:r>
                <a:r>
                  <a:rPr lang="en-US" altLang="ko-KR" sz="1400" dirty="0">
                    <a:solidFill>
                      <a:srgbClr val="FF33CC"/>
                    </a:solidFill>
                  </a:rPr>
                  <a:t>Essential Matrix</a:t>
                </a:r>
                <a:r>
                  <a:rPr lang="ko-KR" altLang="en-US" sz="1400" dirty="0"/>
                  <a:t>라 함</a:t>
                </a:r>
                <a:endParaRPr lang="en-US" altLang="ko-KR" sz="1400" dirty="0"/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600" dirty="0"/>
                  <a:t>임의의 두 지점에서 찍은 영상의 </a:t>
                </a:r>
                <a:r>
                  <a:rPr lang="en-US" altLang="ko-KR" sz="1600" dirty="0"/>
                  <a:t>feature matching</a:t>
                </a:r>
                <a:r>
                  <a:rPr lang="ko-KR" altLang="en-US" sz="1600" dirty="0"/>
                  <a:t>은 항상 위 식을 통해 </a:t>
                </a:r>
                <a:r>
                  <a:rPr lang="ko-KR" altLang="en-US" sz="1600" dirty="0" err="1"/>
                  <a:t>관계지어짐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D4021C4-CAE0-4C6F-9873-3B503C289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682" y="3579555"/>
                <a:ext cx="7731432" cy="1421864"/>
              </a:xfrm>
              <a:prstGeom prst="rect">
                <a:avLst/>
              </a:prstGeom>
              <a:blipFill>
                <a:blip r:embed="rId2"/>
                <a:stretch>
                  <a:fillRect l="-394" b="-17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텍스트, 액세서리, 명함, 텐트이(가) 표시된 사진&#10;&#10;자동 생성된 설명">
            <a:extLst>
              <a:ext uri="{FF2B5EF4-FFF2-40B4-BE49-F238E27FC236}">
                <a16:creationId xmlns:a16="http://schemas.microsoft.com/office/drawing/2014/main" id="{EC7F9EE4-14A9-4DDE-B50E-F8FE7279F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3" y="1062058"/>
            <a:ext cx="3869571" cy="21563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7F6F0C-C7A5-4D46-B3F0-B08D34196CBE}"/>
              </a:ext>
            </a:extLst>
          </p:cNvPr>
          <p:cNvSpPr txBox="1"/>
          <p:nvPr/>
        </p:nvSpPr>
        <p:spPr>
          <a:xfrm>
            <a:off x="5016136" y="1407778"/>
            <a:ext cx="4441372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주어진 점 </a:t>
            </a:r>
            <a:r>
              <a:rPr lang="en-US" altLang="ko-KR" dirty="0"/>
              <a:t>x</a:t>
            </a:r>
            <a:r>
              <a:rPr lang="ko-KR" altLang="en-US" dirty="0"/>
              <a:t>에 </a:t>
            </a:r>
            <a:r>
              <a:rPr lang="en-US" altLang="ko-KR" dirty="0"/>
              <a:t>Essential matrix</a:t>
            </a:r>
            <a:r>
              <a:rPr lang="ko-KR" altLang="en-US" dirty="0"/>
              <a:t>라는 것을 </a:t>
            </a:r>
            <a:r>
              <a:rPr lang="ko-KR" altLang="en-US" dirty="0" err="1"/>
              <a:t>곱하므로써</a:t>
            </a:r>
            <a:r>
              <a:rPr lang="en-US" altLang="ko-KR" dirty="0"/>
              <a:t> </a:t>
            </a:r>
            <a:r>
              <a:rPr lang="en-US" altLang="ko-KR" dirty="0" err="1"/>
              <a:t>epipolar</a:t>
            </a:r>
            <a:r>
              <a:rPr lang="ko-KR" altLang="en-US" dirty="0"/>
              <a:t> </a:t>
            </a:r>
            <a:r>
              <a:rPr lang="en-US" altLang="ko-KR" dirty="0"/>
              <a:t>line</a:t>
            </a:r>
            <a:r>
              <a:rPr lang="ko-KR" altLang="en-US" dirty="0"/>
              <a:t>을 얻을 수 있다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3977B31-2513-4DB4-A2A9-01DC02EADCAD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EBC57D-C845-4B06-A6F9-50D0FCA9DBB6}"/>
                  </a:ext>
                </a:extLst>
              </p:cNvPr>
              <p:cNvSpPr txBox="1"/>
              <p:nvPr/>
            </p:nvSpPr>
            <p:spPr>
              <a:xfrm>
                <a:off x="6401327" y="2577356"/>
                <a:ext cx="141045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b="1" i="1" smtClean="0">
                          <a:latin typeface="Cambria Math" panose="02040503050406030204" pitchFamily="18" charset="0"/>
                        </a:rPr>
                        <m:t>𝑬𝒙</m:t>
                      </m:r>
                      <m:r>
                        <a:rPr lang="ko-KR" altLang="en-US" sz="32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ko-KR" alt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3200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ko-KR" altLang="en-US" sz="3200" b="1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EBC57D-C845-4B06-A6F9-50D0FCA9D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327" y="2577356"/>
                <a:ext cx="141045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51C0D41C-C1DB-4587-A745-D47E2A6AF0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77" y="3390370"/>
            <a:ext cx="2913427" cy="220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64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/>
              <a:t>Epipolar</a:t>
            </a:r>
            <a:r>
              <a:rPr lang="en-US" altLang="ko-KR" sz="2800" b="1" dirty="0"/>
              <a:t> Line</a:t>
            </a:r>
            <a:endParaRPr lang="ko-KR" altLang="en-US" sz="2800" b="1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3977B31-2513-4DB4-A2A9-01DC02EADCAD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화살표: 왼쪽/오른쪽 3">
            <a:extLst>
              <a:ext uri="{FF2B5EF4-FFF2-40B4-BE49-F238E27FC236}">
                <a16:creationId xmlns:a16="http://schemas.microsoft.com/office/drawing/2014/main" id="{3DE15C53-B0DD-4F46-865D-440C74FD50BD}"/>
              </a:ext>
            </a:extLst>
          </p:cNvPr>
          <p:cNvSpPr/>
          <p:nvPr/>
        </p:nvSpPr>
        <p:spPr>
          <a:xfrm>
            <a:off x="3884475" y="1458915"/>
            <a:ext cx="1187116" cy="2989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F98397-D8CB-4A36-8D35-46A070D46C75}"/>
                  </a:ext>
                </a:extLst>
              </p:cNvPr>
              <p:cNvSpPr txBox="1"/>
              <p:nvPr/>
            </p:nvSpPr>
            <p:spPr>
              <a:xfrm>
                <a:off x="5511677" y="1074351"/>
                <a:ext cx="1187116" cy="10680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ko-KR" altLang="en-US" sz="28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ko-KR" alt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ko-KR" alt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F98397-D8CB-4A36-8D35-46A070D46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677" y="1074351"/>
                <a:ext cx="1187116" cy="10680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DBD03B04-0F08-41A3-B979-F35E2D877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38" y="2142401"/>
            <a:ext cx="2848059" cy="20016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48C3C6-883A-476A-BA06-30729F3306EC}"/>
              </a:ext>
            </a:extLst>
          </p:cNvPr>
          <p:cNvSpPr txBox="1"/>
          <p:nvPr/>
        </p:nvSpPr>
        <p:spPr>
          <a:xfrm>
            <a:off x="3884475" y="2351731"/>
            <a:ext cx="6045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r>
              <a:rPr lang="ko-KR" altLang="en-US" dirty="0"/>
              <a:t>가 </a:t>
            </a:r>
            <a:r>
              <a:rPr lang="en-US" altLang="ko-KR" dirty="0" err="1"/>
              <a:t>epipolar</a:t>
            </a:r>
            <a:r>
              <a:rPr lang="en-US" altLang="ko-KR" dirty="0"/>
              <a:t> line </a:t>
            </a:r>
            <a:r>
              <a:rPr lang="en-US" altLang="ko-KR" i="1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altLang="ko-KR" dirty="0"/>
              <a:t> </a:t>
            </a:r>
            <a:r>
              <a:rPr lang="ko-KR" altLang="en-US" dirty="0"/>
              <a:t>위에 있다면</a:t>
            </a:r>
            <a:r>
              <a:rPr lang="en-US" altLang="ko-KR" dirty="0"/>
              <a:t>, </a:t>
            </a:r>
            <a:r>
              <a:rPr lang="ko-KR" altLang="en-US" dirty="0"/>
              <a:t>직교벡터의 내적에 의해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C56CC4-35EF-489E-AC36-5B6BFDA47FEB}"/>
                  </a:ext>
                </a:extLst>
              </p:cNvPr>
              <p:cNvSpPr txBox="1"/>
              <p:nvPr/>
            </p:nvSpPr>
            <p:spPr>
              <a:xfrm>
                <a:off x="4797963" y="2930394"/>
                <a:ext cx="2284007" cy="5639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3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3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ko-KR" altLang="en-US" sz="3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ko-KR" altLang="en-US" sz="36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3600" b="1" i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ko-KR" altLang="en-US" sz="36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C56CC4-35EF-489E-AC36-5B6BFDA4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963" y="2930394"/>
                <a:ext cx="2284007" cy="5639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2B0E2F9-B242-4BD1-851F-65E52DBE8672}"/>
              </a:ext>
            </a:extLst>
          </p:cNvPr>
          <p:cNvSpPr txBox="1"/>
          <p:nvPr/>
        </p:nvSpPr>
        <p:spPr>
          <a:xfrm>
            <a:off x="6907269" y="1423152"/>
            <a:ext cx="2294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 err="1"/>
              <a:t>법선벡터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8E518F-C855-41D0-A2BA-B73D404C7682}"/>
                  </a:ext>
                </a:extLst>
              </p:cNvPr>
              <p:cNvSpPr txBox="1"/>
              <p:nvPr/>
            </p:nvSpPr>
            <p:spPr>
              <a:xfrm>
                <a:off x="863105" y="1392374"/>
                <a:ext cx="25812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80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ko-KR" altLang="en-US" sz="2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800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ko-KR" altLang="en-US" sz="2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8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ko-KR" altLang="en-US" sz="28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8E518F-C855-41D0-A2BA-B73D404C7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05" y="1392374"/>
                <a:ext cx="258128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그룹 21">
            <a:extLst>
              <a:ext uri="{FF2B5EF4-FFF2-40B4-BE49-F238E27FC236}">
                <a16:creationId xmlns:a16="http://schemas.microsoft.com/office/drawing/2014/main" id="{CBD9BD62-F4C4-4559-BB87-BE60511C215E}"/>
              </a:ext>
            </a:extLst>
          </p:cNvPr>
          <p:cNvGrpSpPr/>
          <p:nvPr/>
        </p:nvGrpSpPr>
        <p:grpSpPr>
          <a:xfrm>
            <a:off x="7812670" y="2930394"/>
            <a:ext cx="3943901" cy="3420826"/>
            <a:chOff x="7812670" y="2930394"/>
            <a:chExt cx="3943901" cy="3420826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CFB8A20-8A30-4837-AB6D-6862053D9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2670" y="2930394"/>
              <a:ext cx="3943901" cy="330087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AF693E-731E-402C-9DA7-1602956FB6B6}"/>
                </a:ext>
              </a:extLst>
            </p:cNvPr>
            <p:cNvSpPr txBox="1"/>
            <p:nvPr/>
          </p:nvSpPr>
          <p:spPr>
            <a:xfrm>
              <a:off x="8830490" y="4062793"/>
              <a:ext cx="20029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endParaRPr lang="ko-KR" altLang="en-US" sz="1400" i="1" dirty="0">
                <a:latin typeface="Cambria Math" panose="02040503050406030204" pitchFamily="18" charset="0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E5F60D4-E21C-49CB-BA4E-A071FE8D6A60}"/>
                </a:ext>
              </a:extLst>
            </p:cNvPr>
            <p:cNvSpPr/>
            <p:nvPr/>
          </p:nvSpPr>
          <p:spPr>
            <a:xfrm>
              <a:off x="9930064" y="5947954"/>
              <a:ext cx="163170" cy="283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CDFBCE8-37F2-4604-9B52-4B48B074B37E}"/>
                </a:ext>
              </a:extLst>
            </p:cNvPr>
            <p:cNvSpPr txBox="1"/>
            <p:nvPr/>
          </p:nvSpPr>
          <p:spPr>
            <a:xfrm>
              <a:off x="9743515" y="5828000"/>
              <a:ext cx="3730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endParaRPr lang="ko-KR" altLang="en-US" sz="2800" i="1" dirty="0">
                <a:latin typeface="Cambria Math" panose="02040503050406030204" pitchFamily="18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5704F45-FECA-4581-8A56-51119D1F087D}"/>
              </a:ext>
            </a:extLst>
          </p:cNvPr>
          <p:cNvGrpSpPr/>
          <p:nvPr/>
        </p:nvGrpSpPr>
        <p:grpSpPr>
          <a:xfrm>
            <a:off x="5172840" y="3543977"/>
            <a:ext cx="152640" cy="343440"/>
            <a:chOff x="5172840" y="3543977"/>
            <a:chExt cx="15264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6334D9FC-9818-442A-92D5-B26A2CA6C88F}"/>
                    </a:ext>
                  </a:extLst>
                </p14:cNvPr>
                <p14:cNvContentPartPr/>
                <p14:nvPr/>
              </p14:nvContentPartPr>
              <p14:xfrm>
                <a:off x="5223960" y="3543977"/>
                <a:ext cx="27360" cy="31140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6334D9FC-9818-442A-92D5-B26A2CA6C88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15320" y="3535337"/>
                  <a:ext cx="450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BA21F997-A48F-4DEE-B0B1-88A581BE3DA3}"/>
                    </a:ext>
                  </a:extLst>
                </p14:cNvPr>
                <p14:cNvContentPartPr/>
                <p14:nvPr/>
              </p14:nvContentPartPr>
              <p14:xfrm>
                <a:off x="5172840" y="3805337"/>
                <a:ext cx="152640" cy="8208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BA21F997-A48F-4DEE-B0B1-88A581BE3DA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63840" y="3796697"/>
                  <a:ext cx="170280" cy="99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B2666EB-C6E4-4A13-8BB8-CDD314E2957D}"/>
              </a:ext>
            </a:extLst>
          </p:cNvPr>
          <p:cNvSpPr txBox="1"/>
          <p:nvPr/>
        </p:nvSpPr>
        <p:spPr>
          <a:xfrm>
            <a:off x="3791742" y="3920091"/>
            <a:ext cx="3439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C000"/>
                </a:solidFill>
              </a:rPr>
              <a:t>3x1 </a:t>
            </a:r>
            <a:r>
              <a:rPr lang="ko-KR" altLang="en-US" sz="1400" dirty="0">
                <a:solidFill>
                  <a:srgbClr val="FFC000"/>
                </a:solidFill>
              </a:rPr>
              <a:t>행렬을 </a:t>
            </a:r>
            <a:r>
              <a:rPr lang="en-US" altLang="ko-KR" sz="1400" dirty="0">
                <a:solidFill>
                  <a:srgbClr val="FFC000"/>
                </a:solidFill>
              </a:rPr>
              <a:t>1x3 </a:t>
            </a:r>
            <a:r>
              <a:rPr lang="ko-KR" altLang="en-US" sz="1400" dirty="0">
                <a:solidFill>
                  <a:srgbClr val="FFC000"/>
                </a:solidFill>
              </a:rPr>
              <a:t>행렬로 </a:t>
            </a:r>
            <a:r>
              <a:rPr lang="ko-KR" altLang="en-US" sz="1400" dirty="0" err="1">
                <a:solidFill>
                  <a:srgbClr val="FFC000"/>
                </a:solidFill>
              </a:rPr>
              <a:t>바꿔줌</a:t>
            </a:r>
            <a:r>
              <a:rPr lang="en-US" altLang="ko-KR" sz="1400" dirty="0">
                <a:solidFill>
                  <a:srgbClr val="FFC000"/>
                </a:solidFill>
              </a:rPr>
              <a:t>(Transpose)</a:t>
            </a:r>
            <a:endParaRPr lang="ko-KR" altLang="en-US" sz="1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424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Essential Matrix vs </a:t>
            </a:r>
            <a:r>
              <a:rPr lang="en-US" altLang="ko-KR" sz="2800" b="1" dirty="0" err="1"/>
              <a:t>Homography</a:t>
            </a:r>
            <a:endParaRPr lang="ko-KR" altLang="en-US" sz="2800" b="1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3977B31-2513-4DB4-A2A9-01DC02EADCAD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1AAF1CE-42F3-4D98-A54A-E909E0ACE906}"/>
              </a:ext>
            </a:extLst>
          </p:cNvPr>
          <p:cNvSpPr txBox="1"/>
          <p:nvPr/>
        </p:nvSpPr>
        <p:spPr>
          <a:xfrm>
            <a:off x="674254" y="787595"/>
            <a:ext cx="4523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공통점</a:t>
            </a:r>
            <a:r>
              <a:rPr lang="en-US" altLang="ko-KR" dirty="0"/>
              <a:t>: </a:t>
            </a:r>
            <a:r>
              <a:rPr lang="ko-KR" altLang="en-US" dirty="0" err="1"/>
              <a:t>둘다</a:t>
            </a:r>
            <a:r>
              <a:rPr lang="ko-KR" altLang="en-US" dirty="0"/>
              <a:t> </a:t>
            </a:r>
            <a:r>
              <a:rPr lang="en-US" altLang="ko-KR" dirty="0"/>
              <a:t>3x3</a:t>
            </a:r>
            <a:r>
              <a:rPr lang="ko-KR" altLang="en-US" dirty="0"/>
              <a:t>의 행렬이다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EB9C79-3AE2-4E2E-9AE0-49D3BCACCC40}"/>
              </a:ext>
            </a:extLst>
          </p:cNvPr>
          <p:cNvSpPr txBox="1"/>
          <p:nvPr/>
        </p:nvSpPr>
        <p:spPr>
          <a:xfrm>
            <a:off x="683490" y="1768437"/>
            <a:ext cx="4523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차이점</a:t>
            </a:r>
            <a:r>
              <a:rPr lang="en-US" altLang="ko-KR" dirty="0"/>
              <a:t>: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272B64-8A71-4D46-8491-CF690B1BE9E8}"/>
                  </a:ext>
                </a:extLst>
              </p:cNvPr>
              <p:cNvSpPr txBox="1"/>
              <p:nvPr/>
            </p:nvSpPr>
            <p:spPr>
              <a:xfrm>
                <a:off x="3273075" y="3182778"/>
                <a:ext cx="141045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3200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ko-KR" altLang="en-US" sz="3200" b="1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ko-KR" altLang="en-US" sz="3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3200" b="1" i="1">
                          <a:latin typeface="Cambria Math" panose="02040503050406030204" pitchFamily="18" charset="0"/>
                        </a:rPr>
                        <m:t>𝑬𝒙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272B64-8A71-4D46-8491-CF690B1BE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075" y="3182778"/>
                <a:ext cx="1410450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93C249-7709-4E5B-AA20-7AFFB15A82FE}"/>
                  </a:ext>
                </a:extLst>
              </p:cNvPr>
              <p:cNvSpPr txBox="1"/>
              <p:nvPr/>
            </p:nvSpPr>
            <p:spPr>
              <a:xfrm>
                <a:off x="7337558" y="3182779"/>
                <a:ext cx="154991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ko-KR" altLang="en-US" sz="3200" b="1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ko-KR" altLang="en-US" sz="3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3200" b="1" i="1">
                          <a:latin typeface="Cambria Math" panose="02040503050406030204" pitchFamily="18" charset="0"/>
                        </a:rPr>
                        <m:t>𝑯𝒙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93C249-7709-4E5B-AA20-7AFFB15A8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558" y="3182779"/>
                <a:ext cx="154991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9A2E1DA-D87A-4F95-8C9E-46D35A19CF1B}"/>
              </a:ext>
            </a:extLst>
          </p:cNvPr>
          <p:cNvSpPr txBox="1"/>
          <p:nvPr/>
        </p:nvSpPr>
        <p:spPr>
          <a:xfrm>
            <a:off x="2424988" y="3806467"/>
            <a:ext cx="310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Essential matrix</a:t>
            </a:r>
            <a:r>
              <a:rPr lang="ko-KR" altLang="en-US" dirty="0"/>
              <a:t>는 점을 선으로 </a:t>
            </a:r>
            <a:r>
              <a:rPr lang="en-US" altLang="ko-KR" dirty="0"/>
              <a:t>mapping</a:t>
            </a:r>
            <a:r>
              <a:rPr lang="ko-KR" altLang="en-US" dirty="0"/>
              <a:t>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56850A-BB3B-4CFD-946B-3123E2D5A590}"/>
              </a:ext>
            </a:extLst>
          </p:cNvPr>
          <p:cNvSpPr txBox="1"/>
          <p:nvPr/>
        </p:nvSpPr>
        <p:spPr>
          <a:xfrm>
            <a:off x="6559201" y="3806466"/>
            <a:ext cx="310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Homography</a:t>
            </a:r>
            <a:r>
              <a:rPr lang="ko-KR" altLang="en-US" dirty="0"/>
              <a:t>는 점을 점으로 </a:t>
            </a:r>
            <a:r>
              <a:rPr lang="en-US" altLang="ko-KR" dirty="0"/>
              <a:t>mapping</a:t>
            </a:r>
            <a:r>
              <a:rPr lang="ko-KR" altLang="en-US" dirty="0"/>
              <a:t>함</a:t>
            </a:r>
          </a:p>
        </p:txBody>
      </p:sp>
    </p:spTree>
    <p:extLst>
      <p:ext uri="{BB962C8B-B14F-4D97-AF65-F5344CB8AC3E}">
        <p14:creationId xmlns:p14="http://schemas.microsoft.com/office/powerpoint/2010/main" val="75918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Essential &amp; Fundamental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Matrix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B3414B-5C73-4564-9836-9DA842253BD6}"/>
              </a:ext>
            </a:extLst>
          </p:cNvPr>
          <p:cNvSpPr txBox="1"/>
          <p:nvPr/>
        </p:nvSpPr>
        <p:spPr>
          <a:xfrm>
            <a:off x="1172006" y="722956"/>
            <a:ext cx="9866458" cy="2637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Essential matrix, </a:t>
            </a:r>
            <a:r>
              <a:rPr lang="ko-KR" altLang="en-US" sz="1600" dirty="0"/>
              <a:t> </a:t>
            </a:r>
            <a:r>
              <a:rPr lang="en-US" altLang="ko-KR" sz="1600" dirty="0"/>
              <a:t>Fundamental matrix</a:t>
            </a:r>
            <a:r>
              <a:rPr lang="ko-KR" altLang="en-US" sz="1600" dirty="0"/>
              <a:t>는 </a:t>
            </a:r>
            <a:r>
              <a:rPr lang="en-US" altLang="ko-KR" sz="1600" dirty="0"/>
              <a:t>2</a:t>
            </a:r>
            <a:r>
              <a:rPr lang="ko-KR" altLang="en-US" sz="1600" dirty="0"/>
              <a:t>가지 </a:t>
            </a:r>
            <a:r>
              <a:rPr lang="en-US" altLang="ko-KR" sz="1600" dirty="0"/>
              <a:t>view(stereo)</a:t>
            </a:r>
            <a:r>
              <a:rPr lang="ko-KR" altLang="en-US" sz="1600" dirty="0"/>
              <a:t>에서의 </a:t>
            </a:r>
            <a:r>
              <a:rPr lang="en-US" altLang="ko-KR" sz="1600" dirty="0" err="1"/>
              <a:t>epipolar</a:t>
            </a:r>
            <a:r>
              <a:rPr lang="en-US" altLang="ko-KR" sz="1600" dirty="0"/>
              <a:t> geometry</a:t>
            </a:r>
            <a:r>
              <a:rPr lang="ko-KR" altLang="en-US" sz="1600" dirty="0"/>
              <a:t>를 표현하는 </a:t>
            </a:r>
            <a:r>
              <a:rPr lang="en-US" altLang="ko-KR" sz="1600" dirty="0"/>
              <a:t>3x3 </a:t>
            </a:r>
            <a:r>
              <a:rPr lang="ko-KR" altLang="en-US" sz="1600" dirty="0"/>
              <a:t>행렬이다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/>
              <a:t>Fundamential</a:t>
            </a:r>
            <a:r>
              <a:rPr lang="en-US" altLang="ko-KR" sz="1600" dirty="0"/>
              <a:t> matrix</a:t>
            </a:r>
            <a:r>
              <a:rPr lang="ko-KR" altLang="en-US" sz="1600" dirty="0"/>
              <a:t>는 </a:t>
            </a:r>
            <a:r>
              <a:rPr lang="en-US" altLang="ko-KR" sz="1600" dirty="0"/>
              <a:t>uncalibrated </a:t>
            </a:r>
            <a:r>
              <a:rPr lang="ko-KR" altLang="en-US" sz="1600" dirty="0"/>
              <a:t>카메라에</a:t>
            </a:r>
            <a:r>
              <a:rPr lang="en-US" altLang="ko-KR" sz="1600" dirty="0"/>
              <a:t>(pixel coordinates)</a:t>
            </a:r>
            <a:r>
              <a:rPr lang="ko-KR" altLang="en-US" sz="1600" dirty="0"/>
              <a:t> 사용되는 반면</a:t>
            </a:r>
            <a:r>
              <a:rPr lang="en-US" altLang="ko-KR" sz="1600" dirty="0"/>
              <a:t>, Essential matrix</a:t>
            </a:r>
            <a:r>
              <a:rPr lang="ko-KR" altLang="en-US" sz="1600" dirty="0"/>
              <a:t>는 </a:t>
            </a:r>
            <a:r>
              <a:rPr lang="en-US" altLang="ko-KR" sz="1600" dirty="0"/>
              <a:t>calibrated </a:t>
            </a:r>
            <a:r>
              <a:rPr lang="ko-KR" altLang="en-US" sz="1600" dirty="0"/>
              <a:t>카메라</a:t>
            </a:r>
            <a:r>
              <a:rPr lang="en-US" altLang="ko-KR" sz="1600" dirty="0"/>
              <a:t>(camera coordinates)</a:t>
            </a:r>
            <a:r>
              <a:rPr lang="ko-KR" altLang="en-US" sz="1600" dirty="0"/>
              <a:t>에 사용된다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FFC000"/>
                </a:solidFill>
              </a:rPr>
              <a:t>첫번째</a:t>
            </a:r>
            <a:r>
              <a:rPr lang="en-US" altLang="ko-KR" sz="1600" b="1" dirty="0">
                <a:solidFill>
                  <a:srgbClr val="FFC000"/>
                </a:solidFill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</a:rPr>
              <a:t>두번째 대응점의 정보를 앎으로써 </a:t>
            </a:r>
            <a:r>
              <a:rPr lang="en-US" altLang="ko-KR" sz="1600" b="1" dirty="0">
                <a:solidFill>
                  <a:srgbClr val="FFC000"/>
                </a:solidFill>
              </a:rPr>
              <a:t>Essential/Fundamental matrix</a:t>
            </a:r>
            <a:r>
              <a:rPr lang="ko-KR" altLang="en-US" sz="1600" b="1" dirty="0">
                <a:solidFill>
                  <a:srgbClr val="FFC000"/>
                </a:solidFill>
              </a:rPr>
              <a:t>를 찾을 수도 있고</a:t>
            </a:r>
            <a:r>
              <a:rPr lang="en-US" altLang="ko-KR" sz="1600" b="1" dirty="0">
                <a:solidFill>
                  <a:srgbClr val="FFC000"/>
                </a:solidFill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</a:rPr>
              <a:t>반대로 첫번째 점과 </a:t>
            </a:r>
            <a:r>
              <a:rPr lang="en-US" altLang="ko-KR" sz="1600" b="1" dirty="0">
                <a:solidFill>
                  <a:srgbClr val="FFC000"/>
                </a:solidFill>
              </a:rPr>
              <a:t>Essential/Fundamental matrix</a:t>
            </a:r>
            <a:r>
              <a:rPr lang="ko-KR" altLang="en-US" sz="1600" b="1" dirty="0">
                <a:solidFill>
                  <a:srgbClr val="FFC000"/>
                </a:solidFill>
              </a:rPr>
              <a:t>를 알면 다음 대응점의 위치를 알아낼 수도 있다</a:t>
            </a:r>
            <a:r>
              <a:rPr lang="en-US" altLang="ko-KR" sz="1600" b="1" dirty="0">
                <a:solidFill>
                  <a:srgbClr val="FFC00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Essential matrix</a:t>
            </a:r>
            <a:r>
              <a:rPr lang="ko-KR" altLang="en-US" sz="1600" dirty="0"/>
              <a:t>는 그것이 </a:t>
            </a:r>
            <a:r>
              <a:rPr lang="en-US" altLang="ko-KR" sz="1600" dirty="0"/>
              <a:t>R,T</a:t>
            </a:r>
            <a:r>
              <a:rPr lang="ko-KR" altLang="en-US" sz="1600" dirty="0"/>
              <a:t> 정보를 포함하여 </a:t>
            </a:r>
            <a:r>
              <a:rPr lang="en-US" altLang="ko-KR" sz="1600" dirty="0"/>
              <a:t>5DOF, Fundamental matrix</a:t>
            </a:r>
            <a:r>
              <a:rPr lang="ko-KR" altLang="en-US" sz="1600" dirty="0"/>
              <a:t>는 </a:t>
            </a:r>
            <a:r>
              <a:rPr lang="en-US" altLang="ko-KR" sz="1600" dirty="0"/>
              <a:t>calibration </a:t>
            </a:r>
            <a:r>
              <a:rPr lang="ko-KR" altLang="en-US" sz="1600" dirty="0"/>
              <a:t>파라미터가 추가되어 </a:t>
            </a:r>
            <a:r>
              <a:rPr lang="en-US" altLang="ko-KR" sz="1600" dirty="0"/>
              <a:t>7DOF</a:t>
            </a:r>
            <a:r>
              <a:rPr lang="ko-KR" altLang="en-US" sz="1600" dirty="0"/>
              <a:t>이다</a:t>
            </a:r>
            <a:r>
              <a:rPr lang="en-US" altLang="ko-KR" sz="1600" dirty="0"/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B5C3945-076D-40E9-B6FA-3A8F2ABF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322" y="3659660"/>
            <a:ext cx="6531353" cy="247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07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Essential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Matrix</a:t>
            </a:r>
            <a:endParaRPr lang="ko-KR" altLang="en-US" sz="2800" b="1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3977B31-2513-4DB4-A2A9-01DC02EADCAD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F0CC2D4-028F-4DE7-BB33-B3C57A3495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0" b="5329"/>
          <a:stretch/>
        </p:blipFill>
        <p:spPr>
          <a:xfrm>
            <a:off x="1819862" y="789055"/>
            <a:ext cx="8325852" cy="54988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4EFFB8-DA73-481D-B141-51A1058784F9}"/>
              </a:ext>
            </a:extLst>
          </p:cNvPr>
          <p:cNvSpPr txBox="1"/>
          <p:nvPr/>
        </p:nvSpPr>
        <p:spPr>
          <a:xfrm>
            <a:off x="7677793" y="1805110"/>
            <a:ext cx="40407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첫번째 카메라의 </a:t>
            </a:r>
            <a:r>
              <a:rPr lang="en-US" altLang="ko-KR" sz="1600" dirty="0"/>
              <a:t>X</a:t>
            </a:r>
            <a:r>
              <a:rPr lang="ko-KR" altLang="en-US" sz="1600" dirty="0"/>
              <a:t>의 </a:t>
            </a:r>
            <a:r>
              <a:rPr lang="ko-KR" altLang="en-US" sz="1600" dirty="0" err="1"/>
              <a:t>투영점</a:t>
            </a:r>
            <a:r>
              <a:rPr lang="ko-KR" altLang="en-US" sz="1600" dirty="0"/>
              <a:t> </a:t>
            </a:r>
            <a:r>
              <a:rPr lang="en-US" altLang="ko-KR" sz="1600" dirty="0"/>
              <a:t>x</a:t>
            </a:r>
            <a:r>
              <a:rPr lang="ko-KR" altLang="en-US" sz="1600" dirty="0"/>
              <a:t>와 두번째 카메라의 </a:t>
            </a:r>
            <a:r>
              <a:rPr lang="en-US" altLang="ko-KR" sz="1600" dirty="0"/>
              <a:t>X</a:t>
            </a:r>
            <a:r>
              <a:rPr lang="ko-KR" altLang="en-US" sz="1600" dirty="0"/>
              <a:t>의 </a:t>
            </a:r>
            <a:r>
              <a:rPr lang="ko-KR" altLang="en-US" sz="1600" dirty="0" err="1"/>
              <a:t>투영점</a:t>
            </a:r>
            <a:r>
              <a:rPr lang="ko-KR" altLang="en-US" sz="1600" dirty="0"/>
              <a:t> </a:t>
            </a:r>
            <a:r>
              <a:rPr lang="en-US" altLang="ko-KR" sz="1600" dirty="0"/>
              <a:t>x’</a:t>
            </a:r>
            <a:r>
              <a:rPr lang="ko-KR" altLang="en-US" sz="1600" dirty="0"/>
              <a:t>에 대한 관계식</a:t>
            </a:r>
          </a:p>
        </p:txBody>
      </p:sp>
    </p:spTree>
    <p:extLst>
      <p:ext uri="{BB962C8B-B14F-4D97-AF65-F5344CB8AC3E}">
        <p14:creationId xmlns:p14="http://schemas.microsoft.com/office/powerpoint/2010/main" val="3452003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Essential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DF18FC-89B9-49C7-B00A-A2EC9D5D710A}"/>
                  </a:ext>
                </a:extLst>
              </p:cNvPr>
              <p:cNvSpPr txBox="1"/>
              <p:nvPr/>
            </p:nvSpPr>
            <p:spPr>
              <a:xfrm>
                <a:off x="1140690" y="1351359"/>
                <a:ext cx="12399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𝑅𝑃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DF18FC-89B9-49C7-B00A-A2EC9D5D7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690" y="1351359"/>
                <a:ext cx="1239955" cy="276999"/>
              </a:xfrm>
              <a:prstGeom prst="rect">
                <a:avLst/>
              </a:prstGeom>
              <a:blipFill>
                <a:blip r:embed="rId2"/>
                <a:stretch>
                  <a:fillRect l="-3922" r="-2941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67F96B4-028F-4EE0-A053-135E318562D6}"/>
              </a:ext>
            </a:extLst>
          </p:cNvPr>
          <p:cNvSpPr txBox="1"/>
          <p:nvPr/>
        </p:nvSpPr>
        <p:spPr>
          <a:xfrm>
            <a:off x="2674620" y="1044693"/>
            <a:ext cx="36804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R: 3x3 Rotation Matrix</a:t>
            </a:r>
          </a:p>
          <a:p>
            <a:r>
              <a:rPr lang="en-US" altLang="ko-KR" sz="1400" dirty="0"/>
              <a:t>t: 3x1 Translation Matrix</a:t>
            </a:r>
          </a:p>
          <a:p>
            <a:r>
              <a:rPr lang="en-US" altLang="ko-KR" sz="1400" dirty="0"/>
              <a:t>P: 3d </a:t>
            </a:r>
            <a:r>
              <a:rPr lang="en-US" altLang="ko-KR" sz="1400" dirty="0" err="1"/>
              <a:t>coord</a:t>
            </a:r>
            <a:r>
              <a:rPr lang="en-US" altLang="ko-KR" sz="1400" dirty="0"/>
              <a:t> from aspect of Camera A</a:t>
            </a:r>
          </a:p>
          <a:p>
            <a:r>
              <a:rPr lang="en-US" altLang="ko-KR" sz="1400" dirty="0"/>
              <a:t>P’: 3d </a:t>
            </a:r>
            <a:r>
              <a:rPr lang="en-US" altLang="ko-KR" sz="1400" dirty="0" err="1"/>
              <a:t>coord</a:t>
            </a:r>
            <a:r>
              <a:rPr lang="en-US" altLang="ko-KR" sz="1400" dirty="0"/>
              <a:t> from aspect of Camera B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3BACF4-6E42-41C8-90C1-D7F846DA47EE}"/>
                  </a:ext>
                </a:extLst>
              </p:cNvPr>
              <p:cNvSpPr txBox="1"/>
              <p:nvPr/>
            </p:nvSpPr>
            <p:spPr>
              <a:xfrm>
                <a:off x="1140690" y="2569698"/>
                <a:ext cx="11880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ko-KR" altLang="en-US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3BACF4-6E42-41C8-90C1-D7F846DA4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690" y="2569698"/>
                <a:ext cx="1188082" cy="276999"/>
              </a:xfrm>
              <a:prstGeom prst="rect">
                <a:avLst/>
              </a:prstGeom>
              <a:blipFill>
                <a:blip r:embed="rId3"/>
                <a:stretch>
                  <a:fillRect l="-4103" r="-4103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D2A69DA5-0DEA-460B-A28F-E77E42F726B1}"/>
              </a:ext>
            </a:extLst>
          </p:cNvPr>
          <p:cNvSpPr txBox="1"/>
          <p:nvPr/>
        </p:nvSpPr>
        <p:spPr>
          <a:xfrm>
            <a:off x="739139" y="775562"/>
            <a:ext cx="6223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외부 공간상의 점</a:t>
            </a:r>
            <a:r>
              <a:rPr lang="en-US" altLang="ko-KR" sz="1600" b="1"/>
              <a:t>P(P’)</a:t>
            </a:r>
            <a:r>
              <a:rPr lang="ko-KR" altLang="en-US" sz="1600" b="1"/>
              <a:t>를 </a:t>
            </a:r>
            <a:r>
              <a:rPr lang="en-US" altLang="ko-KR" sz="1600" b="1" dirty="0"/>
              <a:t>A,B </a:t>
            </a:r>
            <a:r>
              <a:rPr lang="ko-KR" altLang="en-US" sz="1600" b="1" dirty="0"/>
              <a:t>카메라에서 봤을 때의 그 둘 사이의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8E23A5-C888-4B42-AF12-1898FEE15E5D}"/>
              </a:ext>
            </a:extLst>
          </p:cNvPr>
          <p:cNvSpPr txBox="1"/>
          <p:nvPr/>
        </p:nvSpPr>
        <p:spPr>
          <a:xfrm>
            <a:off x="739140" y="2048092"/>
            <a:ext cx="5615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Essential Matrix E</a:t>
            </a:r>
            <a:r>
              <a:rPr lang="ko-KR" altLang="en-US" sz="1600" dirty="0"/>
              <a:t>를 다음과 </a:t>
            </a:r>
            <a:r>
              <a:rPr lang="ko-KR" altLang="en-US" sz="1600"/>
              <a:t>같다 하면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CA815-A8D7-492B-97BE-5D948F4A2147}"/>
              </a:ext>
            </a:extLst>
          </p:cNvPr>
          <p:cNvSpPr txBox="1"/>
          <p:nvPr/>
        </p:nvSpPr>
        <p:spPr>
          <a:xfrm>
            <a:off x="2398394" y="2585410"/>
            <a:ext cx="3749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/>
              <a:t>R</a:t>
            </a:r>
            <a:r>
              <a:rPr lang="ko-KR" altLang="en-US" sz="1400" dirty="0"/>
              <a:t>로 회전 먼저 시키고 </a:t>
            </a:r>
            <a:r>
              <a:rPr lang="en-US" altLang="ko-KR" sz="1400" dirty="0"/>
              <a:t>t</a:t>
            </a:r>
            <a:r>
              <a:rPr lang="ko-KR" altLang="en-US" sz="1400" dirty="0"/>
              <a:t>와 외적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E8D9B8-13DD-47E5-BAD1-466892940232}"/>
                  </a:ext>
                </a:extLst>
              </p:cNvPr>
              <p:cNvSpPr txBox="1"/>
              <p:nvPr/>
            </p:nvSpPr>
            <p:spPr>
              <a:xfrm>
                <a:off x="2674620" y="3010545"/>
                <a:ext cx="1497718" cy="684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ko-KR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E8D9B8-13DD-47E5-BAD1-466892940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620" y="3010545"/>
                <a:ext cx="1497718" cy="6847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C8E6B6B-6067-4E7E-B3DC-C02F7AA27ACD}"/>
                  </a:ext>
                </a:extLst>
              </p:cNvPr>
              <p:cNvSpPr txBox="1"/>
              <p:nvPr/>
            </p:nvSpPr>
            <p:spPr>
              <a:xfrm>
                <a:off x="1140690" y="3197103"/>
                <a:ext cx="1111073" cy="3116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p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𝐸𝑃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C8E6B6B-6067-4E7E-B3DC-C02F7AA27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690" y="3197103"/>
                <a:ext cx="1111073" cy="311624"/>
              </a:xfrm>
              <a:prstGeom prst="rect">
                <a:avLst/>
              </a:prstGeom>
              <a:blipFill>
                <a:blip r:embed="rId5"/>
                <a:stretch>
                  <a:fillRect l="-4396" t="-1923" r="-4945" b="-5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그룹 25">
            <a:extLst>
              <a:ext uri="{FF2B5EF4-FFF2-40B4-BE49-F238E27FC236}">
                <a16:creationId xmlns:a16="http://schemas.microsoft.com/office/drawing/2014/main" id="{11EA125C-07A2-4A49-99EE-FBFEFF68471F}"/>
              </a:ext>
            </a:extLst>
          </p:cNvPr>
          <p:cNvGrpSpPr/>
          <p:nvPr/>
        </p:nvGrpSpPr>
        <p:grpSpPr>
          <a:xfrm>
            <a:off x="1242060" y="2826900"/>
            <a:ext cx="344520" cy="439560"/>
            <a:chOff x="1242060" y="2826900"/>
            <a:chExt cx="344520" cy="4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D7B9D04-D265-4B9C-BE09-ECF6614FF6B3}"/>
                    </a:ext>
                  </a:extLst>
                </p14:cNvPr>
                <p14:cNvContentPartPr/>
                <p14:nvPr/>
              </p14:nvContentPartPr>
              <p14:xfrm>
                <a:off x="1242060" y="2826900"/>
                <a:ext cx="321120" cy="43956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D7B9D04-D265-4B9C-BE09-ECF6614FF6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33060" y="2817900"/>
                  <a:ext cx="3387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28F285B-EE2F-439A-889D-3089A3925614}"/>
                    </a:ext>
                  </a:extLst>
                </p14:cNvPr>
                <p14:cNvContentPartPr/>
                <p14:nvPr/>
              </p14:nvContentPartPr>
              <p14:xfrm>
                <a:off x="1516020" y="3183300"/>
                <a:ext cx="70560" cy="4500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B28F285B-EE2F-439A-889D-3089A39256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07380" y="3174300"/>
                  <a:ext cx="8820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370F99C0-D6E1-497B-B293-64F9D7E03A9C}"/>
                  </a:ext>
                </a:extLst>
              </p14:cNvPr>
              <p14:cNvContentPartPr/>
              <p14:nvPr/>
            </p14:nvContentPartPr>
            <p14:xfrm>
              <a:off x="1211460" y="3466620"/>
              <a:ext cx="507960" cy="900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370F99C0-D6E1-497B-B293-64F9D7E03A9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02820" y="3457620"/>
                <a:ext cx="52560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그룹 34">
            <a:extLst>
              <a:ext uri="{FF2B5EF4-FFF2-40B4-BE49-F238E27FC236}">
                <a16:creationId xmlns:a16="http://schemas.microsoft.com/office/drawing/2014/main" id="{02E2B7DF-4B0D-4A14-8B44-66178B3CE669}"/>
              </a:ext>
            </a:extLst>
          </p:cNvPr>
          <p:cNvGrpSpPr/>
          <p:nvPr/>
        </p:nvGrpSpPr>
        <p:grpSpPr>
          <a:xfrm>
            <a:off x="1386420" y="3466620"/>
            <a:ext cx="104400" cy="381240"/>
            <a:chOff x="1386420" y="3466620"/>
            <a:chExt cx="10440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A109DB68-A054-4D28-95D4-E19A2B716EAD}"/>
                    </a:ext>
                  </a:extLst>
                </p14:cNvPr>
                <p14:cNvContentPartPr/>
                <p14:nvPr/>
              </p14:nvContentPartPr>
              <p14:xfrm>
                <a:off x="1428900" y="3466620"/>
                <a:ext cx="59400" cy="38124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A109DB68-A054-4D28-95D4-E19A2B716EA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19900" y="3457980"/>
                  <a:ext cx="7704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837AD4FC-E450-4A4C-9388-1E32F80C3DD8}"/>
                    </a:ext>
                  </a:extLst>
                </p14:cNvPr>
                <p14:cNvContentPartPr/>
                <p14:nvPr/>
              </p14:nvContentPartPr>
              <p14:xfrm>
                <a:off x="1386420" y="3794580"/>
                <a:ext cx="104400" cy="5256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837AD4FC-E450-4A4C-9388-1E32F80C3DD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77780" y="3785580"/>
                  <a:ext cx="122040" cy="70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7" name="그림 36" descr="텍스트이(가) 표시된 사진&#10;&#10;자동 생성된 설명">
            <a:extLst>
              <a:ext uri="{FF2B5EF4-FFF2-40B4-BE49-F238E27FC236}">
                <a16:creationId xmlns:a16="http://schemas.microsoft.com/office/drawing/2014/main" id="{1E55546E-2502-437E-8E93-E52BD3653FD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257800"/>
            <a:ext cx="3381375" cy="742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4A15DFC-4B21-49B5-906A-80B86D22D067}"/>
                  </a:ext>
                </a:extLst>
              </p14:cNvPr>
              <p14:cNvContentPartPr/>
              <p14:nvPr/>
            </p14:nvContentPartPr>
            <p14:xfrm>
              <a:off x="5776695" y="1095015"/>
              <a:ext cx="78840" cy="76968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4A15DFC-4B21-49B5-906A-80B86D22D0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67695" y="1086375"/>
                <a:ext cx="96480" cy="7873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FC98999-F86A-4EDA-9326-F6CDD392FE4A}"/>
              </a:ext>
            </a:extLst>
          </p:cNvPr>
          <p:cNvSpPr txBox="1"/>
          <p:nvPr/>
        </p:nvSpPr>
        <p:spPr>
          <a:xfrm>
            <a:off x="5897445" y="1336563"/>
            <a:ext cx="4239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P, P’:</a:t>
            </a:r>
            <a:r>
              <a:rPr lang="ko-KR" altLang="en-US" sz="1200" dirty="0"/>
              <a:t>서로가 서로의 회전</a:t>
            </a:r>
            <a:r>
              <a:rPr lang="en-US" altLang="ko-KR" sz="1200" dirty="0"/>
              <a:t>, </a:t>
            </a:r>
            <a:r>
              <a:rPr lang="ko-KR" altLang="en-US" sz="1200" dirty="0"/>
              <a:t>평행이동으로 이루어짐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024EE88-CF94-407D-94D4-07410F1AA2FA}"/>
              </a:ext>
            </a:extLst>
          </p:cNvPr>
          <p:cNvGrpSpPr/>
          <p:nvPr/>
        </p:nvGrpSpPr>
        <p:grpSpPr>
          <a:xfrm>
            <a:off x="1140690" y="3966530"/>
            <a:ext cx="3219450" cy="1009650"/>
            <a:chOff x="1140690" y="3966530"/>
            <a:chExt cx="3219450" cy="100965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C166A78-DE36-4840-A220-8365343704FF}"/>
                </a:ext>
              </a:extLst>
            </p:cNvPr>
            <p:cNvGrpSpPr/>
            <p:nvPr/>
          </p:nvGrpSpPr>
          <p:grpSpPr>
            <a:xfrm>
              <a:off x="1140690" y="3966530"/>
              <a:ext cx="3219450" cy="1009650"/>
              <a:chOff x="1140690" y="3966530"/>
              <a:chExt cx="3219450" cy="1009650"/>
            </a:xfrm>
          </p:grpSpPr>
          <p:pic>
            <p:nvPicPr>
              <p:cNvPr id="32" name="그림 31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7BB224C9-9ED4-45AD-8784-F28F47F329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0690" y="3966530"/>
                <a:ext cx="3219450" cy="1009650"/>
              </a:xfrm>
              <a:prstGeom prst="rect">
                <a:avLst/>
              </a:prstGeom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B2EE7AFB-9B1F-4EEF-8622-9FC64C9841F3}"/>
                  </a:ext>
                </a:extLst>
              </p:cNvPr>
              <p:cNvSpPr/>
              <p:nvPr/>
            </p:nvSpPr>
            <p:spPr>
              <a:xfrm>
                <a:off x="3714750" y="4248150"/>
                <a:ext cx="533400" cy="1918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5C5C56-F1C3-4073-9F44-8304C3C3DFA7}"/>
                </a:ext>
              </a:extLst>
            </p:cNvPr>
            <p:cNvSpPr txBox="1"/>
            <p:nvPr/>
          </p:nvSpPr>
          <p:spPr>
            <a:xfrm>
              <a:off x="3602760" y="4161117"/>
              <a:ext cx="32385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dirty="0">
                  <a:latin typeface="+mn-ea"/>
                </a:rPr>
                <a:t>)</a:t>
              </a:r>
              <a:endParaRPr lang="ko-KR" altLang="en-US" sz="1500" dirty="0">
                <a:latin typeface="+mn-ea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A60EDF6-C2EF-4AF5-A6AC-00707CE233EB}"/>
                </a:ext>
              </a:extLst>
            </p:cNvPr>
            <p:cNvSpPr/>
            <p:nvPr/>
          </p:nvSpPr>
          <p:spPr>
            <a:xfrm>
              <a:off x="4152900" y="4248150"/>
              <a:ext cx="207240" cy="191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8C5E2AC-F5A0-4DAE-9FA2-4E81D8869CD2}"/>
              </a:ext>
            </a:extLst>
          </p:cNvPr>
          <p:cNvSpPr txBox="1"/>
          <p:nvPr/>
        </p:nvSpPr>
        <p:spPr>
          <a:xfrm>
            <a:off x="2747887" y="4833376"/>
            <a:ext cx="353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카메라 좌표를 사상 이미지 좌표로 바꿈</a:t>
            </a:r>
            <a:r>
              <a:rPr lang="en-US" altLang="ko-KR" dirty="0"/>
              <a:t>(P-&gt;p, P’-&gt;p’)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EE629B03-CC0F-4701-A171-2B64D98FB49D}"/>
                  </a:ext>
                </a:extLst>
              </p14:cNvPr>
              <p14:cNvContentPartPr/>
              <p14:nvPr/>
            </p14:nvContentPartPr>
            <p14:xfrm>
              <a:off x="1599975" y="4943055"/>
              <a:ext cx="360" cy="26604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EE629B03-CC0F-4701-A171-2B64D98FB49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91335" y="4934415"/>
                <a:ext cx="1800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A71CD743-7E48-48C3-ADC9-F7748929E5BD}"/>
                  </a:ext>
                </a:extLst>
              </p14:cNvPr>
              <p14:cNvContentPartPr/>
              <p14:nvPr/>
            </p14:nvContentPartPr>
            <p14:xfrm>
              <a:off x="1533375" y="5152575"/>
              <a:ext cx="140040" cy="5688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A71CD743-7E48-48C3-ADC9-F7748929E5B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524735" y="5143935"/>
                <a:ext cx="157680" cy="74520"/>
              </a:xfrm>
              <a:prstGeom prst="rect">
                <a:avLst/>
              </a:prstGeom>
            </p:spPr>
          </p:pic>
        </mc:Fallback>
      </mc:AlternateContent>
      <p:pic>
        <p:nvPicPr>
          <p:cNvPr id="38" name="그림 37" descr="안테나, 테이블, 작업대이(가) 표시된 사진&#10;&#10;자동 생성된 설명">
            <a:extLst>
              <a:ext uri="{FF2B5EF4-FFF2-40B4-BE49-F238E27FC236}">
                <a16:creationId xmlns:a16="http://schemas.microsoft.com/office/drawing/2014/main" id="{0BDDD67A-5B57-4EFC-B5F3-E7F4286AB5B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210" y="4222300"/>
            <a:ext cx="4552950" cy="1428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29EC5F9A-287C-4110-97E8-69E224E4323B}"/>
                  </a:ext>
                </a:extLst>
              </p14:cNvPr>
              <p14:cNvContentPartPr/>
              <p14:nvPr/>
            </p14:nvContentPartPr>
            <p14:xfrm>
              <a:off x="3733740" y="5703500"/>
              <a:ext cx="792000" cy="33300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29EC5F9A-287C-4110-97E8-69E224E4323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25100" y="5694860"/>
                <a:ext cx="80964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6A5D7A64-1BBC-4714-86CF-2C744CBD3CDD}"/>
                  </a:ext>
                </a:extLst>
              </p14:cNvPr>
              <p14:cNvContentPartPr/>
              <p14:nvPr/>
            </p14:nvContentPartPr>
            <p14:xfrm>
              <a:off x="2290320" y="3351377"/>
              <a:ext cx="260640" cy="1044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6A5D7A64-1BBC-4714-86CF-2C744CBD3CD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81320" y="3342737"/>
                <a:ext cx="27828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그룹 35">
            <a:extLst>
              <a:ext uri="{FF2B5EF4-FFF2-40B4-BE49-F238E27FC236}">
                <a16:creationId xmlns:a16="http://schemas.microsoft.com/office/drawing/2014/main" id="{02F74143-1177-4C8C-8CDB-C1FEFCF23CA5}"/>
              </a:ext>
            </a:extLst>
          </p:cNvPr>
          <p:cNvGrpSpPr/>
          <p:nvPr/>
        </p:nvGrpSpPr>
        <p:grpSpPr>
          <a:xfrm>
            <a:off x="2274480" y="3300257"/>
            <a:ext cx="276480" cy="165960"/>
            <a:chOff x="2274480" y="3300257"/>
            <a:chExt cx="27648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9477877-5A78-48D2-BD31-F9613E01D9DE}"/>
                    </a:ext>
                  </a:extLst>
                </p14:cNvPr>
                <p14:cNvContentPartPr/>
                <p14:nvPr/>
              </p14:nvContentPartPr>
              <p14:xfrm>
                <a:off x="2274480" y="3300257"/>
                <a:ext cx="42120" cy="1551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9477877-5A78-48D2-BD31-F9613E01D9D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65840" y="3291257"/>
                  <a:ext cx="597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CF64B1C1-D674-4399-B8F5-34FD3CC8E92E}"/>
                    </a:ext>
                  </a:extLst>
                </p14:cNvPr>
                <p14:cNvContentPartPr/>
                <p14:nvPr/>
              </p14:nvContentPartPr>
              <p14:xfrm>
                <a:off x="2316240" y="3465857"/>
                <a:ext cx="360" cy="3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CF64B1C1-D674-4399-B8F5-34FD3CC8E92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07240" y="345685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8D797A4E-6E73-4F24-B187-143D17ED3539}"/>
                    </a:ext>
                  </a:extLst>
                </p14:cNvPr>
                <p14:cNvContentPartPr/>
                <p14:nvPr/>
              </p14:nvContentPartPr>
              <p14:xfrm>
                <a:off x="2298600" y="3422297"/>
                <a:ext cx="252360" cy="3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8D797A4E-6E73-4F24-B187-143D17ED35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89960" y="3413657"/>
                  <a:ext cx="270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7170F6A8-F264-4F70-BEC9-0F1CA6A885EC}"/>
                  </a:ext>
                </a:extLst>
              </p14:cNvPr>
              <p14:cNvContentPartPr/>
              <p14:nvPr/>
            </p14:nvContentPartPr>
            <p14:xfrm>
              <a:off x="2507760" y="3309257"/>
              <a:ext cx="50040" cy="159840"/>
            </p14:xfrm>
          </p:contentPart>
        </mc:Choice>
        <mc:Fallback xmlns=""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7170F6A8-F264-4F70-BEC9-0F1CA6A885E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498760" y="3300257"/>
                <a:ext cx="6768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1EACAE69-8B7A-49EB-A49C-96D61D477559}"/>
                  </a:ext>
                </a:extLst>
              </p14:cNvPr>
              <p14:cNvContentPartPr/>
              <p14:nvPr/>
            </p14:nvContentPartPr>
            <p14:xfrm>
              <a:off x="1619640" y="5041577"/>
              <a:ext cx="1153800" cy="26280"/>
            </p14:xfrm>
          </p:contentPart>
        </mc:Choice>
        <mc:Fallback xmlns=""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1EACAE69-8B7A-49EB-A49C-96D61D47755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611000" y="5032937"/>
                <a:ext cx="1171440" cy="4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9165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Essential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Matrix-Deriving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16E9DC-E8D6-4A70-B45C-13EBA7FA9DB8}"/>
                  </a:ext>
                </a:extLst>
              </p:cNvPr>
              <p:cNvSpPr txBox="1"/>
              <p:nvPr/>
            </p:nvSpPr>
            <p:spPr>
              <a:xfrm>
                <a:off x="3746150" y="1077371"/>
                <a:ext cx="619794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회전 행렬 </a:t>
                </a:r>
                <a:r>
                  <a:rPr lang="en-US" altLang="ko-KR" sz="1600" dirty="0"/>
                  <a:t>R, </a:t>
                </a:r>
                <a:r>
                  <a:rPr lang="ko-KR" altLang="en-US" sz="1600" dirty="0"/>
                  <a:t>병진행렬 </a:t>
                </a:r>
                <a:r>
                  <a:rPr lang="en-US" altLang="ko-KR" sz="1600" dirty="0"/>
                  <a:t>t</a:t>
                </a:r>
                <a:r>
                  <a:rPr lang="ko-KR" altLang="en-US" sz="1600" dirty="0"/>
                  <a:t>를 활용하여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6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ko-KR" altLang="en-US" sz="160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ko-KR" altLang="en-US" sz="160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ko-KR" altLang="en-US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60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16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ko-KR" altLang="en-US" sz="1600" dirty="0"/>
                  <a:t>로 나타낼 수 있음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16E9DC-E8D6-4A70-B45C-13EBA7FA9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150" y="1077371"/>
                <a:ext cx="6197949" cy="338554"/>
              </a:xfrm>
              <a:prstGeom prst="rect">
                <a:avLst/>
              </a:prstGeom>
              <a:blipFill>
                <a:blip r:embed="rId2"/>
                <a:stretch>
                  <a:fillRect l="-591" t="-7273" b="-25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그림 44">
            <a:extLst>
              <a:ext uri="{FF2B5EF4-FFF2-40B4-BE49-F238E27FC236}">
                <a16:creationId xmlns:a16="http://schemas.microsoft.com/office/drawing/2014/main" id="{FA29B2D8-9E4C-47B2-9AB4-243580E1E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91" y="835919"/>
            <a:ext cx="2846760" cy="1742181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E3B13A62-9D41-4398-AB2C-E2E8D2B46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55" y="3429001"/>
            <a:ext cx="3071896" cy="18780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C633043-57A7-4718-A2F3-DDC233F2172C}"/>
                  </a:ext>
                </a:extLst>
              </p:cNvPr>
              <p:cNvSpPr txBox="1"/>
              <p:nvPr/>
            </p:nvSpPr>
            <p:spPr>
              <a:xfrm>
                <a:off x="3755387" y="3429000"/>
                <a:ext cx="619794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x, t, x’</a:t>
                </a:r>
                <a:r>
                  <a:rPr lang="ko-KR" altLang="en-US" sz="1600" dirty="0"/>
                  <a:t>은 동일 평면 상에 있으므로</a:t>
                </a:r>
                <a:r>
                  <a:rPr lang="en-US" altLang="ko-KR" sz="1600" dirty="0"/>
                  <a:t>(coplanarity)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ko-KR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600" i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60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이 성립</a:t>
                </a:r>
                <a:r>
                  <a:rPr lang="en-US" altLang="ko-KR" sz="1600" dirty="0"/>
                  <a:t>, </a:t>
                </a:r>
              </a:p>
              <a:p>
                <a:r>
                  <a:rPr lang="ko-KR" altLang="en-US" sz="1600" dirty="0"/>
                  <a:t>그러므로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16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ko-KR" altLang="en-US" sz="1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6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ko-KR" altLang="en-US" sz="1600" i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ko-KR" altLang="en-US" sz="1600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ko-KR" altLang="en-US" sz="1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ko-KR" altLang="en-US" sz="1600" i="0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ko-KR" alt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ko-KR" altLang="en-US" sz="1600" i="0" dirty="0">
                        <a:latin typeface="Cambria Math" panose="02040503050406030204" pitchFamily="18" charset="0"/>
                      </a:rPr>
                      <m:t>=0</m:t>
                    </m:r>
                    <m:r>
                      <a:rPr lang="ko-KR" altLang="en-US" sz="1600" i="1" dirty="0" smtClean="0">
                        <a:latin typeface="Cambria Math" panose="02040503050406030204" pitchFamily="18" charset="0"/>
                      </a:rPr>
                      <m:t>도</m:t>
                    </m:r>
                  </m:oMath>
                </a14:m>
                <a:r>
                  <a:rPr lang="ko-KR" altLang="en-US" sz="1600" dirty="0"/>
                  <a:t> 성립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C633043-57A7-4718-A2F3-DDC233F21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387" y="3429000"/>
                <a:ext cx="6197949" cy="584775"/>
              </a:xfrm>
              <a:prstGeom prst="rect">
                <a:avLst/>
              </a:prstGeom>
              <a:blipFill>
                <a:blip r:embed="rId5"/>
                <a:stretch>
                  <a:fillRect l="-492" t="-4211" r="-492" b="-115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FF6149-BC20-45BA-AFC1-612AA1987BAC}"/>
                  </a:ext>
                </a:extLst>
              </p:cNvPr>
              <p:cNvSpPr txBox="1"/>
              <p:nvPr/>
            </p:nvSpPr>
            <p:spPr>
              <a:xfrm>
                <a:off x="5924374" y="1477481"/>
                <a:ext cx="18415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 err="1"/>
                  <a:t>rigit</a:t>
                </a:r>
                <a:r>
                  <a:rPr lang="en-US" altLang="ko-KR" dirty="0"/>
                  <a:t> motion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ko-KR" altLang="en-US" sz="180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ko-KR" altLang="en-US" sz="180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80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ko-KR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ko-KR" altLang="en-US" sz="180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FF6149-BC20-45BA-AFC1-612AA1987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374" y="1477481"/>
                <a:ext cx="1841500" cy="646331"/>
              </a:xfrm>
              <a:prstGeom prst="rect">
                <a:avLst/>
              </a:prstGeom>
              <a:blipFill>
                <a:blip r:embed="rId6"/>
                <a:stretch>
                  <a:fillRect t="-47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8D356BF-EFF9-4D03-8F16-9B4B62A6D400}"/>
                  </a:ext>
                </a:extLst>
              </p:cNvPr>
              <p:cNvSpPr txBox="1"/>
              <p:nvPr/>
            </p:nvSpPr>
            <p:spPr>
              <a:xfrm>
                <a:off x="5680966" y="4279901"/>
                <a:ext cx="234678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coplanarity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ko-KR" altLang="en-US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ko-KR" altLang="en-US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ko-KR" altLang="en-US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ko-KR" altLang="en-US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ko-KR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ko-KR" altLang="en-US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8D356BF-EFF9-4D03-8F16-9B4B62A6D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966" y="4279901"/>
                <a:ext cx="2346789" cy="646331"/>
              </a:xfrm>
              <a:prstGeom prst="rect">
                <a:avLst/>
              </a:prstGeom>
              <a:blipFill>
                <a:blip r:embed="rId7"/>
                <a:stretch>
                  <a:fillRect t="-47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109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Essential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Matrix-Deriving relations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6093A8-374D-47FF-8580-3A02A38AA8DF}"/>
              </a:ext>
            </a:extLst>
          </p:cNvPr>
          <p:cNvSpPr txBox="1"/>
          <p:nvPr/>
        </p:nvSpPr>
        <p:spPr>
          <a:xfrm>
            <a:off x="4159794" y="927367"/>
            <a:ext cx="416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rigid motion</a:t>
            </a:r>
            <a:r>
              <a:rPr lang="ko-KR" altLang="en-US" dirty="0"/>
              <a:t>과 </a:t>
            </a:r>
            <a:r>
              <a:rPr lang="en-US" altLang="ko-KR" dirty="0"/>
              <a:t>coplanarity</a:t>
            </a:r>
            <a:r>
              <a:rPr lang="ko-KR" altLang="en-US" dirty="0"/>
              <a:t>식을 혼합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691293-7FBD-4AF6-8117-74D1D7B505BA}"/>
                  </a:ext>
                </a:extLst>
              </p:cNvPr>
              <p:cNvSpPr txBox="1"/>
              <p:nvPr/>
            </p:nvSpPr>
            <p:spPr>
              <a:xfrm>
                <a:off x="5169591" y="1994394"/>
                <a:ext cx="1852815" cy="3338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ko-KR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d>
                        <m:d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691293-7FBD-4AF6-8117-74D1D7B50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591" y="1994394"/>
                <a:ext cx="1852815" cy="333874"/>
              </a:xfrm>
              <a:prstGeom prst="rect">
                <a:avLst/>
              </a:prstGeom>
              <a:blipFill>
                <a:blip r:embed="rId2"/>
                <a:stretch>
                  <a:fillRect r="-2632" b="-5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F57AFB-2487-403D-B15B-54E6E8F195E4}"/>
                  </a:ext>
                </a:extLst>
              </p:cNvPr>
              <p:cNvSpPr txBox="1"/>
              <p:nvPr/>
            </p:nvSpPr>
            <p:spPr>
              <a:xfrm>
                <a:off x="5273273" y="2466523"/>
                <a:ext cx="1645450" cy="3116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p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F57AFB-2487-403D-B15B-54E6E8F19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273" y="2466523"/>
                <a:ext cx="1645450" cy="311624"/>
              </a:xfrm>
              <a:prstGeom prst="rect">
                <a:avLst/>
              </a:prstGeom>
              <a:blipFill>
                <a:blip r:embed="rId3"/>
                <a:stretch>
                  <a:fillRect l="-1481" t="-1961" r="-2963" b="-98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3CF5E3-1CA5-4C2F-AAEC-7B1695A162E6}"/>
                  </a:ext>
                </a:extLst>
              </p:cNvPr>
              <p:cNvSpPr txBox="1"/>
              <p:nvPr/>
            </p:nvSpPr>
            <p:spPr>
              <a:xfrm>
                <a:off x="5310049" y="3025963"/>
                <a:ext cx="1571897" cy="31162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p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𝐸𝑥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3CF5E3-1CA5-4C2F-AAEC-7B1695A16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049" y="3025963"/>
                <a:ext cx="1571897" cy="311624"/>
              </a:xfrm>
              <a:prstGeom prst="rect">
                <a:avLst/>
              </a:prstGeom>
              <a:blipFill>
                <a:blip r:embed="rId4"/>
                <a:stretch>
                  <a:fillRect b="-181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EF7465-F3FB-43B5-9463-FDAF4698686F}"/>
                  </a:ext>
                </a:extLst>
              </p:cNvPr>
              <p:cNvSpPr txBox="1"/>
              <p:nvPr/>
            </p:nvSpPr>
            <p:spPr>
              <a:xfrm>
                <a:off x="5177961" y="1486950"/>
                <a:ext cx="1854547" cy="3338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ko-KR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d>
                        <m:d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EF7465-F3FB-43B5-9463-FDAF46986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961" y="1486950"/>
                <a:ext cx="1854547" cy="333874"/>
              </a:xfrm>
              <a:prstGeom prst="rect">
                <a:avLst/>
              </a:prstGeom>
              <a:blipFill>
                <a:blip r:embed="rId5"/>
                <a:stretch>
                  <a:fillRect r="-26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D3E9CFBA-2D7C-4D12-9DBF-7562FA05496F}"/>
              </a:ext>
            </a:extLst>
          </p:cNvPr>
          <p:cNvGrpSpPr/>
          <p:nvPr/>
        </p:nvGrpSpPr>
        <p:grpSpPr>
          <a:xfrm>
            <a:off x="5920560" y="3045017"/>
            <a:ext cx="126000" cy="524880"/>
            <a:chOff x="5920560" y="3045017"/>
            <a:chExt cx="126000" cy="52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951E4C1-68A8-415F-A081-F721528227B8}"/>
                    </a:ext>
                  </a:extLst>
                </p14:cNvPr>
                <p14:cNvContentPartPr/>
                <p14:nvPr/>
              </p14:nvContentPartPr>
              <p14:xfrm>
                <a:off x="5920560" y="3045017"/>
                <a:ext cx="126000" cy="2476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951E4C1-68A8-415F-A081-F721528227B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11560" y="3036017"/>
                  <a:ext cx="1436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9994775-BBA0-413D-AFA6-D8127FE61709}"/>
                    </a:ext>
                  </a:extLst>
                </p14:cNvPr>
                <p14:cNvContentPartPr/>
                <p14:nvPr/>
              </p14:nvContentPartPr>
              <p14:xfrm>
                <a:off x="5956560" y="3291617"/>
                <a:ext cx="360" cy="2782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9994775-BBA0-413D-AFA6-D8127FE617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47560" y="3282977"/>
                  <a:ext cx="18000" cy="29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F9071490-AC63-41FC-9B2A-18866614CB72}"/>
                  </a:ext>
                </a:extLst>
              </p14:cNvPr>
              <p14:cNvContentPartPr/>
              <p14:nvPr/>
            </p14:nvContentPartPr>
            <p14:xfrm>
              <a:off x="5904000" y="3507617"/>
              <a:ext cx="137520" cy="6660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F9071490-AC63-41FC-9B2A-18866614CB7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95360" y="3498977"/>
                <a:ext cx="155160" cy="842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93492F5-86E5-4A03-B9DA-5767054A261F}"/>
              </a:ext>
            </a:extLst>
          </p:cNvPr>
          <p:cNvSpPr txBox="1"/>
          <p:nvPr/>
        </p:nvSpPr>
        <p:spPr>
          <a:xfrm>
            <a:off x="5273273" y="3544159"/>
            <a:ext cx="1360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Essential Matrix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249E01-2886-4350-80DF-284085C4D784}"/>
              </a:ext>
            </a:extLst>
          </p:cNvPr>
          <p:cNvSpPr txBox="1"/>
          <p:nvPr/>
        </p:nvSpPr>
        <p:spPr>
          <a:xfrm>
            <a:off x="7528457" y="3060588"/>
            <a:ext cx="2220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Longuet</a:t>
            </a:r>
            <a:r>
              <a:rPr lang="en-US" altLang="ko-KR" sz="1200" dirty="0"/>
              <a:t>-Higgins equation</a:t>
            </a:r>
            <a:endParaRPr lang="ko-KR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58F7DAB5-703B-4359-AD96-1CFC0CEF7FB0}"/>
                  </a:ext>
                </a:extLst>
              </p14:cNvPr>
              <p14:cNvContentPartPr/>
              <p14:nvPr/>
            </p14:nvContentPartPr>
            <p14:xfrm>
              <a:off x="6888240" y="3169937"/>
              <a:ext cx="611280" cy="4176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58F7DAB5-703B-4359-AD96-1CFC0CEF7FB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79600" y="3160937"/>
                <a:ext cx="6289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A910990E-A108-4C29-8183-F317051EE825}"/>
                  </a:ext>
                </a:extLst>
              </p14:cNvPr>
              <p14:cNvContentPartPr/>
              <p14:nvPr/>
            </p14:nvContentPartPr>
            <p14:xfrm>
              <a:off x="7411680" y="3152297"/>
              <a:ext cx="97560" cy="14328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A910990E-A108-4C29-8183-F317051EE8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03040" y="3143657"/>
                <a:ext cx="115200" cy="1609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1E9B2AFA-681D-4B5D-9EC8-3897A6DD1C7F}"/>
              </a:ext>
            </a:extLst>
          </p:cNvPr>
          <p:cNvSpPr txBox="1"/>
          <p:nvPr/>
        </p:nvSpPr>
        <p:spPr>
          <a:xfrm>
            <a:off x="6962952" y="3335748"/>
            <a:ext cx="3270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FF33CC"/>
                </a:solidFill>
              </a:rPr>
              <a:t>epipolar</a:t>
            </a:r>
            <a:r>
              <a:rPr lang="en-US" altLang="ko-KR" sz="1800" dirty="0">
                <a:solidFill>
                  <a:srgbClr val="FF33CC"/>
                </a:solidFill>
              </a:rPr>
              <a:t>(coplanarity) constraint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2903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Essential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1A30362-C657-41E3-B850-B5632C959693}"/>
                  </a:ext>
                </a:extLst>
              </p:cNvPr>
              <p:cNvSpPr txBox="1"/>
              <p:nvPr/>
            </p:nvSpPr>
            <p:spPr>
              <a:xfrm>
                <a:off x="793750" y="1215869"/>
                <a:ext cx="185651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- </a:t>
                </a:r>
                <a14:m>
                  <m:oMath xmlns:m="http://schemas.openxmlformats.org/officeDocument/2006/math"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ko-KR" altLang="en-US" sz="2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ko-KR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ko-KR" altLang="en-US" sz="24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1A30362-C657-41E3-B850-B5632C959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50" y="1215869"/>
                <a:ext cx="1856510" cy="369332"/>
              </a:xfrm>
              <a:prstGeom prst="rect">
                <a:avLst/>
              </a:prstGeom>
              <a:blipFill>
                <a:blip r:embed="rId2"/>
                <a:stretch>
                  <a:fillRect l="-9836" t="-24590" b="-491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F0A9220-F4E9-41C5-BEEF-6F10BAEF0A58}"/>
              </a:ext>
            </a:extLst>
          </p:cNvPr>
          <p:cNvSpPr txBox="1"/>
          <p:nvPr/>
        </p:nvSpPr>
        <p:spPr>
          <a:xfrm>
            <a:off x="628650" y="877316"/>
            <a:ext cx="382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앞에서 정의한 </a:t>
            </a:r>
            <a:r>
              <a:rPr lang="en-US" altLang="ko-KR" b="1" dirty="0"/>
              <a:t>Essential Matrix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9E1F8A-0775-4D4B-A111-9C2524DD784C}"/>
              </a:ext>
            </a:extLst>
          </p:cNvPr>
          <p:cNvSpPr txBox="1"/>
          <p:nvPr/>
        </p:nvSpPr>
        <p:spPr>
          <a:xfrm>
            <a:off x="958850" y="1528357"/>
            <a:ext cx="7181850" cy="11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t</a:t>
            </a:r>
            <a:r>
              <a:rPr lang="ko-KR" altLang="en-US" sz="1600" dirty="0"/>
              <a:t>는 </a:t>
            </a:r>
            <a:r>
              <a:rPr lang="en-US" altLang="ko-KR" sz="1600" dirty="0"/>
              <a:t>Translation(</a:t>
            </a:r>
            <a:r>
              <a:rPr lang="ko-KR" altLang="en-US" sz="1600" dirty="0"/>
              <a:t>평행이동</a:t>
            </a:r>
            <a:r>
              <a:rPr lang="en-US" altLang="ko-KR" sz="1600" dirty="0"/>
              <a:t>), R</a:t>
            </a:r>
            <a:r>
              <a:rPr lang="ko-KR" altLang="en-US" sz="1600" dirty="0"/>
              <a:t>은 </a:t>
            </a:r>
            <a:r>
              <a:rPr lang="en-US" altLang="ko-KR" sz="1600" dirty="0"/>
              <a:t>Rotation(</a:t>
            </a:r>
            <a:r>
              <a:rPr lang="ko-KR" altLang="en-US" sz="1600" dirty="0"/>
              <a:t>회전</a:t>
            </a:r>
            <a:r>
              <a:rPr lang="en-US" altLang="ko-KR" sz="1600" dirty="0"/>
              <a:t>) </a:t>
            </a:r>
            <a:r>
              <a:rPr lang="ko-KR" altLang="en-US" sz="1600" dirty="0"/>
              <a:t>을 의미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E</a:t>
            </a:r>
            <a:r>
              <a:rPr lang="ko-KR" altLang="en-US" sz="1600" dirty="0"/>
              <a:t>는 즉</a:t>
            </a:r>
            <a:r>
              <a:rPr lang="en-US" altLang="ko-KR" sz="1600" dirty="0"/>
              <a:t>, </a:t>
            </a:r>
            <a:r>
              <a:rPr lang="ko-KR" altLang="en-US" sz="1600" dirty="0"/>
              <a:t>뒤에 곱해지는 인자를 회전시킨 다음</a:t>
            </a:r>
            <a:r>
              <a:rPr lang="en-US" altLang="ko-KR" sz="1600" dirty="0"/>
              <a:t>, </a:t>
            </a:r>
            <a:r>
              <a:rPr lang="ko-KR" altLang="en-US" sz="1600" dirty="0"/>
              <a:t>평행이동 시킨다는 의미를 지님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1AB848-0748-4FE9-B17C-0C2A0046F400}"/>
              </a:ext>
            </a:extLst>
          </p:cNvPr>
          <p:cNvSpPr txBox="1"/>
          <p:nvPr/>
        </p:nvSpPr>
        <p:spPr>
          <a:xfrm>
            <a:off x="793750" y="2688483"/>
            <a:ext cx="78364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Essential Matrices</a:t>
            </a:r>
            <a:r>
              <a:rPr lang="ko-KR" altLang="en-US" dirty="0"/>
              <a:t>는 총 </a:t>
            </a:r>
            <a:r>
              <a:rPr lang="en-US" altLang="ko-KR" dirty="0"/>
              <a:t>5</a:t>
            </a:r>
            <a:r>
              <a:rPr lang="ko-KR" altLang="en-US" dirty="0"/>
              <a:t>자유도를 지님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3</a:t>
            </a:r>
            <a:r>
              <a:rPr lang="ko-KR" altLang="en-US" dirty="0"/>
              <a:t>자유도 </a:t>
            </a:r>
            <a:r>
              <a:rPr lang="en-US" altLang="ko-KR" dirty="0"/>
              <a:t>– </a:t>
            </a:r>
            <a:r>
              <a:rPr lang="ko-KR" altLang="en-US" dirty="0"/>
              <a:t>회전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</a:t>
            </a:r>
            <a:r>
              <a:rPr lang="ko-KR" altLang="en-US" dirty="0"/>
              <a:t>자유도 </a:t>
            </a:r>
            <a:r>
              <a:rPr lang="en-US" altLang="ko-KR" dirty="0"/>
              <a:t>– </a:t>
            </a:r>
            <a:r>
              <a:rPr lang="ko-KR" altLang="en-US" dirty="0"/>
              <a:t>병진</a:t>
            </a:r>
            <a:r>
              <a:rPr lang="en-US" altLang="ko-KR" sz="1400" dirty="0"/>
              <a:t>(scale ambiguity(</a:t>
            </a:r>
            <a:r>
              <a:rPr lang="ko-KR" altLang="en-US" sz="1400" dirty="0"/>
              <a:t>카메라</a:t>
            </a:r>
            <a:r>
              <a:rPr lang="en-US" altLang="ko-KR" sz="1400" dirty="0"/>
              <a:t>1-</a:t>
            </a:r>
            <a:r>
              <a:rPr lang="ko-KR" altLang="en-US" sz="1400" dirty="0"/>
              <a:t>카메라</a:t>
            </a:r>
            <a:r>
              <a:rPr lang="en-US" altLang="ko-KR" sz="1400" dirty="0"/>
              <a:t>2</a:t>
            </a:r>
            <a:r>
              <a:rPr lang="ko-KR" altLang="en-US" sz="1400" dirty="0"/>
              <a:t>의 거리를 모름</a:t>
            </a:r>
            <a:r>
              <a:rPr lang="en-US" altLang="ko-KR" sz="1400" dirty="0"/>
              <a:t>), scale</a:t>
            </a:r>
            <a:r>
              <a:rPr lang="ko-KR" altLang="en-US" sz="1400" dirty="0"/>
              <a:t>을 안다면 </a:t>
            </a:r>
            <a:r>
              <a:rPr lang="en-US" altLang="ko-KR" sz="1400" dirty="0"/>
              <a:t>3</a:t>
            </a:r>
            <a:r>
              <a:rPr lang="ko-KR" altLang="en-US" sz="1400" dirty="0"/>
              <a:t>자유도</a:t>
            </a:r>
            <a:r>
              <a:rPr lang="en-US" altLang="ko-KR" sz="1400" dirty="0"/>
              <a:t>)</a:t>
            </a:r>
          </a:p>
          <a:p>
            <a:r>
              <a:rPr lang="en-US" altLang="ko-KR" dirty="0"/>
              <a:t>=&gt; Extrinsic parameters </a:t>
            </a:r>
            <a:r>
              <a:rPr lang="ko-KR" altLang="en-US" dirty="0"/>
              <a:t>에만 의존</a:t>
            </a:r>
            <a:r>
              <a:rPr lang="en-US" altLang="ko-KR" dirty="0"/>
              <a:t>, 2</a:t>
            </a:r>
            <a:r>
              <a:rPr lang="ko-KR" altLang="en-US" dirty="0"/>
              <a:t>개의 </a:t>
            </a:r>
            <a:r>
              <a:rPr lang="en-US" altLang="ko-KR" dirty="0"/>
              <a:t>rank</a:t>
            </a:r>
            <a:r>
              <a:rPr lang="ko-KR" altLang="en-US" dirty="0"/>
              <a:t>를 가짐</a:t>
            </a:r>
          </a:p>
        </p:txBody>
      </p:sp>
    </p:spTree>
    <p:extLst>
      <p:ext uri="{BB962C8B-B14F-4D97-AF65-F5344CB8AC3E}">
        <p14:creationId xmlns:p14="http://schemas.microsoft.com/office/powerpoint/2010/main" val="1620088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Fundamental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Matrix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A4CBB-AF8F-4BC3-B187-BE76E12871A6}"/>
              </a:ext>
            </a:extLst>
          </p:cNvPr>
          <p:cNvSpPr txBox="1"/>
          <p:nvPr/>
        </p:nvSpPr>
        <p:spPr>
          <a:xfrm>
            <a:off x="1005839" y="735131"/>
            <a:ext cx="10180320" cy="212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/>
              <a:t>3x3 </a:t>
            </a:r>
            <a:r>
              <a:rPr lang="ko-KR" altLang="en-US" sz="1800" dirty="0"/>
              <a:t>행렬</a:t>
            </a:r>
            <a:r>
              <a:rPr lang="en-US" altLang="ko-KR" sz="1800" dirty="0"/>
              <a:t>, </a:t>
            </a:r>
            <a:r>
              <a:rPr lang="en-US" altLang="ko-KR" dirty="0"/>
              <a:t>7DOF, 2rank</a:t>
            </a:r>
            <a:endParaRPr lang="en-US" altLang="ko-KR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/>
              <a:t>Fundamential</a:t>
            </a:r>
            <a:r>
              <a:rPr lang="en-US" altLang="ko-KR" sz="1800" dirty="0"/>
              <a:t> matrix</a:t>
            </a:r>
            <a:r>
              <a:rPr lang="ko-KR" altLang="en-US" sz="1800" dirty="0"/>
              <a:t>는 </a:t>
            </a:r>
            <a:r>
              <a:rPr lang="en-US" altLang="ko-KR" sz="1800" dirty="0"/>
              <a:t>uncalibrated </a:t>
            </a:r>
            <a:r>
              <a:rPr lang="ko-KR" altLang="en-US" sz="1800" dirty="0"/>
              <a:t>카메라에</a:t>
            </a:r>
            <a:r>
              <a:rPr lang="en-US" altLang="ko-KR" sz="1800" dirty="0"/>
              <a:t>(pixel coordinates)</a:t>
            </a:r>
            <a:r>
              <a:rPr lang="ko-KR" altLang="en-US" sz="1800" dirty="0"/>
              <a:t> 사용되는 반면</a:t>
            </a:r>
            <a:r>
              <a:rPr lang="en-US" altLang="ko-KR" sz="1800" dirty="0"/>
              <a:t>, Essential matrix</a:t>
            </a:r>
            <a:r>
              <a:rPr lang="ko-KR" altLang="en-US" sz="1800" dirty="0"/>
              <a:t>는 </a:t>
            </a:r>
            <a:r>
              <a:rPr lang="en-US" altLang="ko-KR" sz="1800" dirty="0"/>
              <a:t>calibrated </a:t>
            </a:r>
            <a:r>
              <a:rPr lang="ko-KR" altLang="en-US" sz="1800" dirty="0"/>
              <a:t>카메라</a:t>
            </a:r>
            <a:r>
              <a:rPr lang="en-US" altLang="ko-KR" sz="1800" dirty="0"/>
              <a:t>(camera coordinates)</a:t>
            </a:r>
            <a:r>
              <a:rPr lang="ko-KR" altLang="en-US" sz="1800" dirty="0"/>
              <a:t>에 사용된다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즉</a:t>
            </a:r>
            <a:r>
              <a:rPr lang="en-US" altLang="ko-KR" dirty="0"/>
              <a:t>, intrinsic matrix</a:t>
            </a:r>
            <a:r>
              <a:rPr lang="ko-KR" altLang="en-US" dirty="0"/>
              <a:t>가 있다면 </a:t>
            </a:r>
            <a:r>
              <a:rPr lang="en-US" altLang="ko-KR" dirty="0"/>
              <a:t>Essential</a:t>
            </a:r>
            <a:r>
              <a:rPr lang="ko-KR" altLang="en-US" dirty="0"/>
              <a:t>과 </a:t>
            </a:r>
            <a:r>
              <a:rPr lang="en-US" altLang="ko-KR" dirty="0"/>
              <a:t>Fundamental </a:t>
            </a:r>
            <a:r>
              <a:rPr lang="ko-KR" altLang="en-US" dirty="0"/>
              <a:t>사이의 변환이 가능하다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/>
              <a:t>‘F’</a:t>
            </a:r>
            <a:r>
              <a:rPr lang="ko-KR" altLang="en-US" sz="1800" dirty="0"/>
              <a:t>로 나타냄</a:t>
            </a:r>
            <a:endParaRPr lang="en-US" altLang="ko-KR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B988E0-8859-4D76-AFED-B20962AEAC09}"/>
                  </a:ext>
                </a:extLst>
              </p:cNvPr>
              <p:cNvSpPr txBox="1"/>
              <p:nvPr/>
            </p:nvSpPr>
            <p:spPr>
              <a:xfrm>
                <a:off x="5179468" y="3996006"/>
                <a:ext cx="1851533" cy="493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8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ko-KR" altLang="en-US" sz="28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ko-KR" altLang="en-US" sz="28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ko-KR" altLang="en-US" sz="28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8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p>
                              <m:r>
                                <a:rPr lang="ko-KR" altLang="en-US" sz="2800" b="1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p>
                          <m:r>
                            <a:rPr lang="ko-KR" altLang="en-US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ko-KR" altLang="en-US" sz="2800" b="1" i="1">
                          <a:latin typeface="Cambria Math" panose="02040503050406030204" pitchFamily="18" charset="0"/>
                        </a:rPr>
                        <m:t>𝑭𝑲</m:t>
                      </m:r>
                    </m:oMath>
                  </m:oMathPara>
                </a14:m>
                <a:endParaRPr lang="ko-KR" altLang="en-US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B988E0-8859-4D76-AFED-B20962AEA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68" y="3996006"/>
                <a:ext cx="1851533" cy="4935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6671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2741</TotalTime>
  <Words>902</Words>
  <Application>Microsoft Office PowerPoint</Application>
  <PresentationFormat>와이드스크린</PresentationFormat>
  <Paragraphs>114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맑은 고딕</vt:lpstr>
      <vt:lpstr>Arial</vt:lpstr>
      <vt:lpstr>Calibri</vt:lpstr>
      <vt:lpstr>Calibri Light</vt:lpstr>
      <vt:lpstr>Cambria Math</vt:lpstr>
      <vt:lpstr>Wingdings</vt:lpstr>
      <vt:lpstr>추억</vt:lpstr>
      <vt:lpstr>Epipolar Geometry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다양한 최적화 알고리즘</dc:title>
  <dc:creator>이기진</dc:creator>
  <cp:lastModifiedBy>이기진</cp:lastModifiedBy>
  <cp:revision>607</cp:revision>
  <dcterms:created xsi:type="dcterms:W3CDTF">2022-01-03T15:43:39Z</dcterms:created>
  <dcterms:modified xsi:type="dcterms:W3CDTF">2023-02-18T11:16:49Z</dcterms:modified>
</cp:coreProperties>
</file>