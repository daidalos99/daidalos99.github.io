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91" r:id="rId3"/>
    <p:sldId id="297" r:id="rId4"/>
    <p:sldId id="257" r:id="rId5"/>
    <p:sldId id="298" r:id="rId6"/>
    <p:sldId id="293" r:id="rId7"/>
    <p:sldId id="299" r:id="rId8"/>
    <p:sldId id="292" r:id="rId9"/>
    <p:sldId id="30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03:39:47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24575,'137'-1'0,"419"16"0,-263 21 0,-141-14 0,235 4 0,-209-26 0,219-11 0,370-7 0,-494 21 0,33-1 0,324-5 0,-476-8 0,38-2 0,-116 13 0,-9 1 0,125-16 0,33-11 0,-14 3 0,-140 15 0,0 4 0,80 5 0,-75 2 0,127-14 0,-61-1-31,219 8 0,-187 6-1272,-147-2-5523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03:39:49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24575,'5'1'0,"0"1"0,-1 0 0,1 0 0,-1 0 0,0 0 0,0 1 0,0-1 0,0 1 0,0 0 0,0 1 0,-1-1 0,5 6 0,13 9 0,-14-13 0,-1-1 0,1 2 0,-1-1 0,0 1 0,0-1 0,-1 2 0,0-1 0,0 1 0,0-1 0,-1 1 0,0 1 0,0-1 0,-1 0 0,0 1 0,0 0 0,-1 0 0,0 0 0,0 0 0,-1 0 0,0 0 0,0 0 0,-1 1 0,0-1 0,0 0 0,-1 0 0,0 0 0,-1 0 0,-3 12 0,-5 4-227,0-1-1,-2 0 1,-1-1-1,0-1 1,-18 22-1,12-18-6598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03:47:28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6037 0 24575,'-17'1'0,"0"0"0,0 1 0,0 1 0,0 0 0,1 1 0,-1 1 0,1 0 0,0 2 0,-16 8 0,-5 6 0,1 2 0,-49 41 0,71-52 0,1 1 0,1 0 0,0 1 0,0 1 0,1 0 0,1 0 0,1 1 0,0 0 0,-9 26 0,-1 9 0,-23 101 0,28-72 0,4 1 0,3 1 0,5 94 0,-2 3 0,-1-120 0,-14 64 0,9-72 0,3 0 0,-1 59 0,9-46 0,0-10 0,-2 0 0,-13 90 0,11-127 0,-1 0 0,-1 0 0,0-1 0,-2 1 0,1-1 0,-2 0 0,0-1 0,-1 0 0,-1 0 0,0-1 0,-1 0 0,-17 16 0,-8 2 0,0-2 0,-3-1 0,0-3 0,-1-1 0,-2-1 0,0-3 0,-63 22 0,-57 26 0,95-38 0,-86 26 0,29-9 0,65-22 0,21-12 0,0-2 0,-1-2 0,-74 10 0,-122-2 0,191-16 0,-84 8 0,-59 1 0,-693-12 0,841 0 0,-47-9 0,-24-2 0,-712 9 0,420 6 0,228-6 0,-188 6 0,87 34 0,233-30 0,29-4 0,1 0 0,-1 1 0,1 1 0,0 0 0,0 1 0,1 0 0,-1 0 0,1 1 0,-16 14 0,-9 11 0,-41 46 0,54-53 0,11-12-341,0 0 0,1 1-1,-13 24 1,10-12-6485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03:47:33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24575,'1'17'0,"1"1"0,1-1 0,0 0 0,1 0 0,1 0 0,1 0 0,0-1 0,1 1 0,10 15 0,15 23 0,44 56 0,-63-92 0,-4-6 0,0 0 0,1-1 0,0 0 0,1-1 0,1 0 0,-1-1 0,2 0 0,-1 0 0,1-2 0,1 0 0,-1 0 0,2-1 0,-1-1 0,1 0 0,-1-1 0,1 0 0,1-2 0,-1 0 0,1 0 0,22 0 0,154-7 0,124 4 0,-106 25 0,-53-3 0,-102-11 0,81 3 0,587-12 0,-356-4 0,-22 0 0,604 13 0,322 5 0,-869-17 0,-379 2 0,0 2 0,-1 0 0,44 14 0,20 3 0,-12-8 0,-1 3 0,119 41 0,-179-52 0,1 0 0,1-1 0,-1 0 0,15 0 0,-20-3 0,1 1 0,-1 0 0,1 1 0,-1 0 0,1 0 0,-1 1 0,0 0 0,0 1 0,-1 0 0,1 0 0,9 7 0,6 7 0,-1 1 0,0 1 0,-2 1 0,0 1 0,-2 1 0,0 0 0,-2 2 0,27 48 0,-24-37-1365,-6-23-5461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26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 24575,'0'4'0,"-4"2"0,-6 3 0,0 5 0,-4 0 0,2 1 0,-2-1 0,1 0 0,0 3 0,-4 2 0,-1 2 0,-3 6 0,-2-2 0,0-1 0,2-1 0,6-4-8191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27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24575,'1'9'0,"1"0"0,0 0 0,0-1 0,1 1 0,0 0 0,1-1 0,0 0 0,5 8 0,7 19 0,-12-26 0,0 1 0,0-1 0,0-1 0,1 1 0,1-1 0,0 1 0,0-2 0,0 1 0,12 10 0,-12-14 0,0 0 0,0 0 0,0-1 0,1 0 0,-1 0 0,1-1 0,0 1 0,-1-2 0,1 1 0,0-1 0,0 0 0,1 0 0,-1-1 0,9 0 0,184-5-1365,-170 5-5461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28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24575,'0'4'0,"0"10"0,0 6 0,0 4 0,0 6 0,0 2 0,0 0 0,0-1 0,0-7-8191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29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31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45 24575,'-1'35'0,"0"-20"0,1-1 0,3 30 0,-3-44 0,0 0 0,0 0 0,0 0 0,0 0 0,0 0 0,0 0 0,0 1 0,0-1 0,0 0 0,0 0 0,0 0 0,0 0 0,0 0 0,0 0 0,0 1 0,0-1 0,0 0 0,0 0 0,1 0 0,-1 0 0,0 0 0,0 0 0,0 0 0,0 0 0,0 0 0,0 0 0,0 1 0,0-1 0,1 0 0,-1 0 0,0 0 0,0 0 0,0 0 0,0 0 0,0 0 0,0 0 0,1 0 0,-1 0 0,0 0 0,0 0 0,0 0 0,0 0 0,0 0 0,0 0 0,1 0 0,-1 0 0,0 0 0,0 0 0,0-1 0,0 1 0,0 0 0,0 0 0,0 0 0,0 0 0,1 0 0,-1 0 0,0 0 0,0 0 0,0 0 0,0 0 0,0-1 0,0 1 0,0 0 0,0 0 0,0 0 0,10-13 0,6-18 0,-11 18 0,-1 1 0,1 1 0,0 0 0,0 0 0,1 1 0,10-14 0,-15 22 0,1 1 0,-1-1 0,0 1 0,1 0 0,-1 0 0,1-1 0,-1 1 0,1 0 0,-1 0 0,1 1 0,0-1 0,-1 0 0,1 0 0,0 1 0,0-1 0,0 1 0,-1 0 0,1 0 0,0-1 0,0 1 0,0 0 0,0 0 0,-1 1 0,1-1 0,0 0 0,0 1 0,0-1 0,0 1 0,-1-1 0,1 1 0,0 0 0,-1 0 0,1 0 0,0 0 0,-1 0 0,1 0 0,-1 0 0,0 0 0,1 1 0,-1-1 0,0 0 0,2 3 0,7 6 0,-1 0 0,0 0 0,-1 0 0,0 1 0,-1 0 0,0 1 0,-1 0 0,0 0 0,0 0 0,-2 1 0,1 0 0,-2-1 0,0 2 0,2 18 0,-4-30 0,-1-1 0,0 1 0,0 0 0,1 0 0,-1 0 0,1 0 0,-1 0 0,1 0 0,0 0 0,0-1 0,0 1 0,2 2 0,-3-4 0,0 1 0,1-1 0,-1 0 0,0 0 0,1 0 0,-1 0 0,1 1 0,-1-1 0,0 0 0,1 0 0,-1 0 0,1 0 0,-1 0 0,1 0 0,-1 0 0,0 0 0,1 0 0,-1 0 0,1 0 0,-1 0 0,0 0 0,1 0 0,-1-1 0,1 1 0,-1 0 0,0 0 0,1 0 0,-1-1 0,0 1 0,1 0 0,-1 0 0,0-1 0,1 1 0,2-4 0,0 0 0,0 1 0,0-1 0,-1 0 0,1 0 0,-1 0 0,0-1 0,2-5 0,1-5 0,1 1 0,1-1 0,1 1 0,0 0 0,19-23 0,-22 31 0,0 0 0,0 0 0,0 1 0,1 0 0,0 0 0,0 0 0,1 1 0,-1 0 0,1 0 0,0 1 0,0 0 0,0 0 0,0 1 0,10-3 0,-14 5 0,-1 0 0,1-1 0,-1 1 0,1 1 0,0-1 0,-1 0 0,1 1 0,-1-1 0,0 1 0,1 0 0,-1-1 0,1 1 0,-1 1 0,0-1 0,0 0 0,0 0 0,3 3 0,0 0 0,0 1 0,-1-1 0,1 1 0,-1 0 0,-1 0 0,7 10 0,-2 2 0,0 0 0,-1 1 0,9 31 0,-2-5-1365,-8-25-5461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32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24575,'-2'1'0,"0"-1"0,-1 1 0,1 0 0,0 0 0,0-1 0,0 2 0,0-1 0,0 0 0,0 0 0,0 1 0,0-1 0,1 1 0,-1-1 0,0 1 0,1 0 0,-1 0 0,-1 2 0,-23 37 0,23-35 0,-1 0 0,0 1 0,1 0 0,0 1 0,0-1 0,1 0 0,-1 1 0,2 0 0,-1-1 0,1 1 0,0 0 0,1 0 0,0 0 0,1 9 0,0-14 0,-1 1 0,1-1 0,0 0 0,1 0 0,-1 0 0,0-1 0,1 1 0,0 0 0,-1 0 0,1-1 0,0 1 0,1-1 0,-1 0 0,0 1 0,1-1 0,-1 0 0,1 0 0,-1-1 0,1 1 0,0 0 0,0-1 0,0 0 0,0 0 0,0 0 0,0 0 0,0 0 0,0 0 0,0-1 0,1 0 0,-1 1 0,0-1 0,0-1 0,0 1 0,5-1 0,-5 1 0,0 0 0,0 0 0,0-1 0,0 1 0,-1-1 0,1 0 0,0 0 0,0 0 0,0 0 0,0 0 0,-1-1 0,1 1 0,-1-1 0,1 0 0,-1 0 0,0 0 0,1 0 0,-1 0 0,0 0 0,0 0 0,-1-1 0,1 1 0,0-1 0,-1 1 0,1-1 0,-1 0 0,2-5 0,0-5 0,0 0 0,0-1 0,-2 1 0,1-26 0,0 8 0,-2 31 0,0-1 0,0 1 0,0 0 0,0-1 0,0 1 0,0 0 0,0-1 0,0 1 0,0-1 0,0 1 0,0 0 0,0-1 0,0 1 0,0 0 0,1-1 0,-1 1 0,0 0 0,0-1 0,0 1 0,1 0 0,-1 0 0,0-1 0,0 1 0,1 0 0,-1 0 0,0-1 0,1 1 0,-1 0 0,0 0 0,0 0 0,1-1 0,-1 1 0,0 0 0,1 0 0,-1 0 0,1 0 0,-1 0 0,0 0 0,1 0 0,-1 0 0,0 0 0,1 0 0,-1 0 0,0 0 0,1 0 0,-1 0 0,1 0 0,-1 0 0,0 0 0,1 0 0,-1 1 0,0-1 0,1 0 0,-1 0 0,0 0 0,0 1 0,1-1 0,-1 0 0,0 0 0,1 1 0,-1-1 0,0 0 0,0 0 0,0 1 0,1-1 0,-1 0 0,0 1 0,0-1 0,0 1 0,24 28 0,-19-23 0,6 8 0,1 4 0,2-2 0,0 0 0,0 0 0,23 16 0,-32-28 0,0 0 0,1-1 0,-1 0 0,1 0 0,0 0 0,0-1 0,0 0 0,0 0 0,0 0 0,1-1 0,-1 0 0,0 0 0,1-1 0,-1 0 0,1 0 0,-1 0 0,0-1 0,12-2 0,26-9-1365,-25 6-5461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33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24575,'-2'1'0,"-1"-1"0,1 1 0,-1 0 0,1 0 0,-1 0 0,1 0 0,-1 0 0,1 0 0,0 0 0,0 1 0,0-1 0,0 1 0,0 0 0,0 0 0,0-1 0,0 1 0,1 0 0,-1 1 0,1-1 0,-2 2 0,-25 51 0,26-50 0,-2 7 0,0 0 0,0 0 0,1 0 0,0 1 0,1-1 0,-1 25 0,3-34 0,0 0 0,0 1 0,0-1 0,0 0 0,0 1 0,1-1 0,-1 0 0,1 1 0,0-1 0,0 0 0,1 0 0,-1 0 0,0 0 0,1 0 0,0 0 0,0 0 0,0-1 0,0 1 0,0 0 0,0-1 0,1 0 0,-1 0 0,1 1 0,0-1 0,-1-1 0,1 1 0,0 0 0,0-1 0,0 1 0,5 0 0,-7-1 0,0-1 0,1 0 0,-1 0 0,0 0 0,0 0 0,0 0 0,0 0 0,0 0 0,0 0 0,0 0 0,0 0 0,0-1 0,0 1 0,0 0 0,0-1 0,0 1 0,0-1 0,0 1 0,0-1 0,0 1 0,0-1 0,0 0 0,0 1 0,1-3 0,11-27 0,-7-43 0,-6 67 0,-4-89 0,4 92 0,0 10 0,2 20 0,10 76 0,-7-76 0,-1 0 0,-1 0 0,-2 0 0,0 1 0,-2-1 0,-1 0 0,-7 34 0,9-59 0,0-1 0,-1 1 0,1-1 0,0 1 0,-1-1 0,1 1 0,-1-1 0,0 1 0,1-1 0,-1 1 0,0-1 0,0 0 0,0 0 0,0 1 0,0-1 0,0 0 0,0 0 0,0 0 0,0 0 0,-1 0 0,1 0 0,0 0 0,-1 0 0,1-1 0,0 1 0,-1-1 0,1 1 0,-1-1 0,1 1 0,-1-1 0,0 0 0,1 1 0,-1-1 0,1 0 0,-1 0 0,1 0 0,-1-1 0,0 1 0,1 0 0,-1-1 0,1 1 0,-1 0 0,1-1 0,-1 0 0,1 1 0,0-1 0,-1 0 0,0-1 0,-4-2 0,0 0 0,0 0 0,1 0 0,-1-1 0,1 0 0,0 0 0,1-1 0,-1 1 0,-5-12 0,7 13 0,1 0 0,-1-1 0,1 0 0,0 1 0,1-1 0,-1 0 0,1 0 0,0 0 0,0 0 0,1 0 0,0 0 0,-1 0 0,2 0 0,-1 0 0,0-1 0,1 1 0,0 0 0,0 1 0,1-1 0,-1 0 0,4-7 0,-2 9 0,0-1 0,0 0 0,0 1 0,0 0 0,0 0 0,0 0 0,1 0 0,0 0 0,-1 1 0,1 0 0,0-1 0,0 1 0,1 1 0,-1-1 0,0 1 0,1-1 0,-1 1 0,0 1 0,1-1 0,-1 1 0,1-1 0,-1 1 0,1 0 0,5 1 0,4 1-25,0 1-1,0 0 1,-1 1-1,1 0 0,-1 1 1,0 1-1,21 12 1,-1-2-1136,-16-8-5665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34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74 233 24575,'50'1'0,"-28"1"0,0-2 0,0 0 0,0-2 0,0 0 0,0-1 0,24-8 0,-44 11 0,1-2 0,0 1 0,-1 0 0,0 0 0,1-1 0,-1 1 0,0-1 0,0 0 0,0 1 0,0-1 0,0 0 0,0 0 0,0-1 0,-1 1 0,1 0 0,-1-1 0,0 1 0,2-5 0,-1 2 0,-1 0 0,0-1 0,0 1 0,0 0 0,-1 0 0,1-1 0,-1 1 0,-1 0 0,0-9 0,0 7 0,-1 0 0,0-1 0,0 1 0,0 0 0,-1 0 0,0 0 0,0 0 0,-1 1 0,1-1 0,-2 1 0,1 0 0,-1 0 0,0 1 0,-7-7 0,10 10 0,-1 0 0,0 1 0,0-1 0,0 1 0,0 0 0,0 0 0,-1 0 0,1 0 0,0 0 0,0 1 0,-1-1 0,1 1 0,0 0 0,-1 0 0,1 1 0,0-1 0,-1 0 0,1 1 0,0 0 0,0 0 0,0 0 0,-1 0 0,1 1 0,0-1 0,1 1 0,-1 0 0,0-1 0,0 1 0,-2 3 0,-9 7 0,0 1 0,0 0 0,-21 31 0,24-31 0,-6 7 0,1 1 0,1 0 0,-25 46 0,37-59 0,0 1 0,0-1 0,0 1 0,1 0 0,0 0 0,1 0 0,0 0 0,0 0 0,1 0 0,0 0 0,1 0 0,0 0 0,1 0 0,-1 0 0,4 10 0,-4-18 0,4 19 0,2 1 0,1-1 0,0 0 0,20 33 0,-26-49 0,0-1 0,0 0 0,1 1 0,-1-1 0,1 0 0,0 0 0,-1-1 0,1 1 0,1 0 0,-1-1 0,0 0 0,1 0 0,-1 0 0,1 0 0,-1 0 0,1-1 0,0 0 0,0 1 0,0-1 0,0-1 0,0 1 0,0-1 0,0 1 0,0-1 0,0 0 0,0-1 0,0 1 0,0-1 0,0 1 0,-1-1 0,1 0 0,0-1 0,6-2 0,5-6-1365,-4-1-5461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3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1 969 24575,'6'-16'0,"0"-1"0,-2 0 0,0 0 0,0 0 0,-2 0 0,1-25 0,-1 17 0,1 0 0,6-25 0,11-17 0,13-60 0,-28 109 0,1 1 0,0 0 0,2 0 0,0 1 0,1 0 0,13-18 0,12-25 0,-24 43 0,0-1 0,1 2 0,1 0 0,1 0 0,17-16 0,78-60 0,-83 73-136,0 2-1,2 0 1,0 2-1,1 0 1,0 2-1,1 2 1,0 0-1,1 2 0,59-9 1,-66 15-6690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38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24575,'4'6'0,"0"0"0,0 1 0,0-2 0,1 1 0,0 0 0,0-1 0,1 0 0,-1 0 0,11 6 0,63 31 0,-12-6 0,-65-35 0,0 0 0,0 0 0,0 1 0,0-1 0,0 1 0,0-1 0,0 1 0,-1 0 0,1-1 0,-1 1 0,1 0 0,-1 0 0,0 0 0,1 0 0,-1 0 0,0 0 0,0 1 0,-1-1 0,1 0 0,0 1 0,-1-1 0,0 0 0,1 1 0,-1-1 0,0 0 0,0 1 0,0-1 0,0 1 0,-1-1 0,1 0 0,-1 1 0,1-1 0,-1 0 0,0 0 0,0 1 0,0-1 0,-2 3 0,-5 6 0,0 0 0,-1 0 0,0-1 0,-1 0 0,-14 12 0,2-1 0,-59 69-1365,67-74-5461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3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24575,'1'15'0,"0"1"0,8 28 0,2 20 0,-10-46 0,-1-8 0,0 0 0,1 0 0,0 0 0,1 0 0,0 0 0,0 0 0,1 0 0,8 17 0,-11-26 0,1 0 0,-1 0 0,1-1 0,0 1 0,-1 0 0,1-1 0,0 1 0,-1 0 0,1-1 0,0 1 0,0-1 0,0 1 0,0-1 0,-1 1 0,1-1 0,0 0 0,0 1 0,0-1 0,0 0 0,0 0 0,0 0 0,0 0 0,0 0 0,0 0 0,0 0 0,0 0 0,0 0 0,1 0 0,28-17 0,18-33 0,-31 25-378,0-1-1,14-29 0,-29 51 150,10-18-6597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39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24575,'2'0'0,"0"0"0,1 0 0,-1 1 0,0-1 0,0 1 0,0 0 0,1 0 0,-1 0 0,0 0 0,0 0 0,0 0 0,0 0 0,-1 1 0,1-1 0,0 1 0,0 0 0,-1-1 0,1 1 0,-1 0 0,0 0 0,1 0 0,1 4 0,23 58 0,-5-10 0,-4-28 0,1-2 0,0 0 0,2-1 0,24 22 0,-43-44 0,0 0 0,0 0 0,0 0 0,0 0 0,0 0 0,0 0 0,1-1 0,-1 1 0,0-1 0,0 1 0,1-1 0,-1 1 0,0-1 0,1 1 0,-1-1 0,0 0 0,1 0 0,-1 0 0,0 0 0,1 0 0,-1 0 0,1 0 0,-1 0 0,2-1 0,-1 0 0,0 0 0,-1-1 0,1 1 0,0 0 0,-1-1 0,1 1 0,-1-1 0,1 1 0,-1-1 0,0 0 0,1 0 0,-1 0 0,0 0 0,1-2 0,3-11 0,1 0 0,-2-1 0,4-24 0,-4 22 0,25-88 72,8-35-1509,-33 120-5389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40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41 24575,'1'4'0,"1"0"0,0 0 0,0 0 0,0-1 0,0 1 0,1-1 0,-1 0 0,1 1 0,4 3 0,10 14 0,-11-8 0,0 1 0,-1 0 0,0-1 0,-1 2 0,-1-1 0,-1 0 0,0 1 0,0-1 0,-1 1 0,-1-1 0,-1 1 0,0 0 0,-6 27 0,6-38 0,0-1 0,-1 0 0,1 0 0,-1 0 0,0 0 0,1 0 0,-1 0 0,0-1 0,-1 1 0,1-1 0,0 1 0,-1-1 0,1 0 0,-1 0 0,0 0 0,0 0 0,0-1 0,0 1 0,0-1 0,0 1 0,0-1 0,0 0 0,-1 0 0,1-1 0,0 1 0,-1-1 0,1 0 0,0 1 0,-1-1 0,1-1 0,-1 1 0,1 0 0,0-1 0,-5-1 0,2 1 0,-1-1 0,1 1 0,-1-1 0,1-1 0,0 1 0,0-1 0,0 0 0,0 0 0,1-1 0,-1 0 0,1 0 0,0 0 0,0-1 0,0 1 0,1-1 0,-8-10 0,8 4 0,-1 1 0,2-1 0,0 0 0,0 0 0,1 0 0,0 0 0,1 0 0,1-19 0,0 8 0,1 1 0,1-1 0,8-32 0,-8 45-273,1 1 0,1-1 0,-1 1 0,10-13 0,2-3-6553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42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24575,'5'6'0,"0"0"0,0 0 0,-1 0 0,0 1 0,0 0 0,-1 0 0,0 0 0,0 0 0,0 0 0,-1 1 0,0-1 0,0 9 0,1 9 0,-1 0 0,-2 33 0,0-55 0,0-16 0,1 0 0,0-1 0,1 1 0,5-17 0,-6 25 0,1 0 0,-1 1 0,1-1 0,1 0 0,-1 1 0,1-1 0,-1 1 0,1 0 0,1 0 0,-1 0 0,0 0 0,1 1 0,0 0 0,0-1 0,0 1 0,0 0 0,8-3 0,43-15-1365,-38 17-5461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42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24575,'4'0'0,"6"4"0,0 6 0,0 9 0,-3 5 0,2 7 0,-1 7 0,-1 0 0,2-1 0,-1-4 0,-1 2 0,-3 2 0,3 3 0,1 0 0,-3-4 0,0-7-8191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44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0 24575,'1'95'0,"-3"104"0,2-196 0,0 0 0,0 0 0,-1 0 0,1 0 0,-1 0 0,1 0 0,-1 0 0,0 0 0,-1 0 0,1 0 0,-3 5 0,3-7 0,0-1 0,0 1 0,0-1 0,0 1 0,0-1 0,0 1 0,0-1 0,0 0 0,0 0 0,0 1 0,0-1 0,0 0 0,0 0 0,0 0 0,0 0 0,0 0 0,0 0 0,0 0 0,0 0 0,0-1 0,0 1 0,0 0 0,0 0 0,0-1 0,0 1 0,0-1 0,0 1 0,0-1 0,1 0 0,-1 1 0,0-1 0,0 0 0,0 1 0,1-1 0,-1 0 0,-1-1 0,-12-12 0,1 0 0,-23-30 0,29 33 0,0 1 0,-1 0 0,0 1 0,0 0 0,-1 0 0,0 1 0,-1 0 0,0 0 0,0 1 0,-21-10 0,28 16 0,1 0 0,0 1 0,0-1 0,-1 1 0,1-1 0,0 1 0,-1 0 0,1 0 0,0 0 0,-1 1 0,1-1 0,0 0 0,0 1 0,-1 0 0,1-1 0,0 1 0,0 0 0,-3 2 0,0 0 0,0 0 0,0 1 0,0 0 0,1 0 0,0 0 0,0 0 0,-4 6 0,-4 6 0,2 0 0,0 1 0,-12 26 0,18-32 0,0 0 0,0-1 0,1 2 0,0-1 0,1 0 0,0 0 0,1 1 0,0-1 0,1 1 0,0-1 0,1 0 0,0 1 0,4 14 0,-4-24 0,0 0 0,0 0 0,-1 0 0,2 0 0,-1 0 0,0-1 0,0 1 0,0 0 0,1-1 0,-1 1 0,1-1 0,-1 0 0,1 1 0,0-1 0,0 0 0,-1 0 0,1 0 0,0 0 0,0 0 0,0 0 0,4 0 0,-2 0 0,1-1 0,-1 0 0,0 0 0,1 0 0,-1 0 0,0-1 0,1 1 0,-1-1 0,0 0 0,5-2 0,2-2 0,0 0 0,0 0 0,-1 0 0,0-2 0,0 1 0,-1-1 0,10-8 0,40-54-1365,-47 59-5461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48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24575,'2'12'0,"0"0"0,0 0 0,1-1 0,0 1 0,1-1 0,11 21 0,5 20 0,18 89 0,34 99 0,-57-214 0,-7-23 0,-1-16 0,-2-25 0,-2 1 0,-1-1 0,-6-62 0,1 11 0,3-190 0,0 274 0,0 1 0,1-1 0,-1 1 0,1-1 0,0 1 0,0-1 0,0 1 0,1 0 0,0 0 0,-1-1 0,1 1 0,1 0 0,-1 1 0,5-7 0,-6 9 0,1-1 0,0 1 0,-1 0 0,1 0 0,0-1 0,0 1 0,0 0 0,-1 1 0,1-1 0,0 0 0,0 1 0,0-1 0,1 1 0,-1-1 0,0 1 0,0 0 0,0 0 0,0 0 0,0 0 0,0 0 0,0 0 0,0 1 0,0-1 0,0 1 0,0 0 0,0-1 0,0 1 0,0 0 0,0 0 0,0 0 0,-1 0 0,1 1 0,2 1 0,8 7 0,0 0 0,-1 2 0,0-1 0,-1 1 0,-1 1 0,0-1 0,0 2 0,-1-1 0,-1 1 0,0 0 0,-1 1 0,5 19 0,-10-34 0,-1 1 0,0-1 0,0 1 0,1-1 0,-1 1 0,0-1 0,0 1 0,0-1 0,0 1 0,0-1 0,0 1 0,0-1 0,0 1 0,0-1 0,0 1 0,0 0 0,0-1 0,0 1 0,0-1 0,0 1 0,0-1 0,-1 1 0,1-1 0,0 1 0,0-1 0,-1 1 0,1-1 0,0 0 0,-1 1 0,1-1 0,0 1 0,-1-1 0,1 0 0,-1 1 0,1-1 0,-1 0 0,1 0 0,-1 1 0,1-1 0,-1 0 0,1 0 0,-1 0 0,1 1 0,-1-1 0,1 0 0,-1 0 0,1 0 0,-1 0 0,1 0 0,-1 0 0,1 0 0,-1 0 0,1 0 0,-1 0 0,0-1 0,-38-11 0,24 7 0,-2 2 0,0 0 0,0 2 0,-20 0 0,26 2 0,0-1 0,0 0 0,0-1 0,0-1 0,1 1 0,-1-1 0,0-1 0,1 0 0,-18-8 0,27 10-68,0 1 0,0-1-1,0 0 1,0 0 0,0 1 0,0-1-1,0 0 1,0 0 0,0 0 0,1 0-1,-1 0 1,0 0 0,1 0 0,-1 0-1,0-1 1,1 1 0,0 0 0,-1 0-1,1-3 1,-1-7-6758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49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80 24575,'1'4'0,"0"1"0,0-1 0,0 0 0,1 0 0,0-1 0,-1 1 0,1 0 0,1-1 0,2 5 0,10 19 0,-13-19 0,1 1 0,-2-1 0,1 1 0,-1 0 0,0 0 0,-1-1 0,0 1 0,0 0 0,-1 0 0,0 0 0,-5 16 0,5-23 0,1 1 0,-1 0 0,0 0 0,0 0 0,-1 0 0,1-1 0,-1 1 0,1-1 0,-1 1 0,0-1 0,0 0 0,0 1 0,0-1 0,0 0 0,0 0 0,-1-1 0,1 1 0,-1 0 0,1-1 0,-1 1 0,0-1 0,0 0 0,1 0 0,-1 0 0,0 0 0,0-1 0,0 1 0,0-1 0,0 0 0,0 1 0,0-1 0,0-1 0,0 1 0,0 0 0,0-1 0,0 1 0,-4-3 0,3 2 0,0-1 0,0 0 0,1 0 0,-1 0 0,1 0 0,-1-1 0,1 0 0,0 1 0,0-1 0,0 0 0,1 0 0,-1-1 0,1 1 0,-1-1 0,1 1 0,0-1 0,0 0 0,1 1 0,-1-1 0,1 0 0,0 0 0,0 0 0,-1-7 0,-1-11 0,0 0 0,2 0 0,1-25 0,0 38 0,0 1 15,0 0 0,1-1 0,0 1 0,0 0 0,0 0 0,1 0 0,5-11 0,-6 16-80,0 1 1,1-1-1,0 0 1,-1 1-1,1 0 1,0-1-1,0 1 0,1 0 1,-1 0-1,0 0 1,1 0-1,-1 0 1,1 1-1,0-1 1,-1 1-1,1-1 0,0 1 1,0 0-1,0 0 1,0 1-1,0-1 1,6 0-1,11-1-6761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50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24575,'5'0'0,"0"4"0,0 10 0,4 6 0,-1 4 0,-1 2 0,-2 1 0,3-1 0,-1 1 0,-1-2 0,-2 1 0,-5-10 0,-3-11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50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24575,'0'4'0,"0"5"0,0 6 0,0 4 0,0-1-8191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52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24575,'0'167'0,"0"-182"0,1-1 0,1 1 0,5-25 0,-6 35 0,0 0 0,1 1 0,-1-1 0,1 1 0,0 0 0,0-1 0,0 1 0,1 0 0,-1 0 0,1 0 0,0 1 0,0-1 0,0 1 0,1-1 0,-1 1 0,6-3 0,-7 5 0,0 0 0,-1 1 0,1-1 0,0 1 0,0 0 0,-1 0 0,1 0 0,0 0 0,0 0 0,-1 0 0,1 0 0,0 0 0,0 1 0,-1-1 0,1 1 0,0-1 0,-1 1 0,1 0 0,0-1 0,-1 1 0,1 0 0,-1 0 0,1 0 0,-1 1 0,0-1 0,1 0 0,-1 0 0,0 1 0,0-1 0,1 2 0,34 52 0,-28-41 0,3 4 0,-2-1 0,0 1 0,-1 1 0,10 37 0,-18-56-4,1 2-68,-1 0 1,0-1-1,1 1 1,-1 0-1,1-1 0,-1 1 1,1 0-1,0-1 0,0 1 1,0-1-1,0 1 0,0-1 1,0 1-1,0-1 1,0 0-1,0 0 0,1 0 1,1 2-1,10 1-6754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53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24575,'-2'87'0,"-1"-46"0,3 0 0,1 0 0,8 43 0,-9-78 0,1 0 0,1 0 0,-1-1 0,1 1 0,0 0 0,0-1 0,0 0 0,1 1 0,0-1 0,0 0 0,1 0 0,-1-1 0,1 1 0,0-1 0,0 0 0,0 0 0,1 0 0,-1 0 0,1-1 0,0 0 0,0 0 0,1 0 0,-1 0 0,0-1 0,1 0 0,-1 0 0,1-1 0,0 1 0,0-1 0,-1-1 0,9 1 0,57 13 0,-52-9 0,1-1 0,-1 0 0,41 0 0,-40-8-1365,-6-3-5461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09T16:27:54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24575,'8'0'0,"7"0"0,5 0 0,3 0 0,6 0 0,3 0 0,-1 0 0,3 0 0,-1 0 0,-1 0 0,-2 0 0,-6 0-8191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1T16:13:34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24575,'40'-2'0,"-29"1"0,-1 0 0,1 0 0,0 1 0,-1 0 0,1 1 0,-1 0 0,1 1 0,18 6 0,-27-7 0,0 1 0,0 0 0,-1-1 0,1 1 0,0 0 0,-1 0 0,0 0 0,0 0 0,1 1 0,-1-1 0,0 0 0,-1 0 0,1 1 0,0-1 0,-1 0 0,1 1 0,-1 2 0,6 54 0,-5-37 0,2 20-1365,-2-23-5461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C80E9-6DA7-41C7-90D9-8982685E6806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29E9B-DE9D-4FFE-ABCE-07109C06F8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679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977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917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097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45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63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414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737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00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516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220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564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E5E8401-7A20-4664-8116-9C4FCC07658E}" type="datetimeFigureOut">
              <a:rPr lang="ko-KR" altLang="en-US" smtClean="0"/>
              <a:t>2023-02-18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33A0797-4DA6-4FB9-AF92-9E0E34BD5FA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66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6.png"/><Relationship Id="rId26" Type="http://schemas.openxmlformats.org/officeDocument/2006/relationships/image" Target="../media/image20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24.png"/><Relationship Id="rId42" Type="http://schemas.openxmlformats.org/officeDocument/2006/relationships/image" Target="../media/image28.png"/><Relationship Id="rId47" Type="http://schemas.openxmlformats.org/officeDocument/2006/relationships/customXml" Target="../ink/ink23.xml"/><Relationship Id="rId50" Type="http://schemas.openxmlformats.org/officeDocument/2006/relationships/image" Target="../media/image32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12" Type="http://schemas.openxmlformats.org/officeDocument/2006/relationships/image" Target="../media/image13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6.png"/><Relationship Id="rId46" Type="http://schemas.openxmlformats.org/officeDocument/2006/relationships/image" Target="../media/image30.png"/><Relationship Id="rId2" Type="http://schemas.openxmlformats.org/officeDocument/2006/relationships/image" Target="../media/image8.png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29" Type="http://schemas.openxmlformats.org/officeDocument/2006/relationships/customXml" Target="../ink/ink14.xml"/><Relationship Id="rId41" Type="http://schemas.openxmlformats.org/officeDocument/2006/relationships/customXml" Target="../ink/ink20.xml"/><Relationship Id="rId54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customXml" Target="../ink/ink5.xml"/><Relationship Id="rId24" Type="http://schemas.openxmlformats.org/officeDocument/2006/relationships/image" Target="../media/image19.png"/><Relationship Id="rId32" Type="http://schemas.openxmlformats.org/officeDocument/2006/relationships/image" Target="../media/image23.png"/><Relationship Id="rId37" Type="http://schemas.openxmlformats.org/officeDocument/2006/relationships/customXml" Target="../ink/ink18.xml"/><Relationship Id="rId40" Type="http://schemas.openxmlformats.org/officeDocument/2006/relationships/image" Target="../media/image27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21.png"/><Relationship Id="rId36" Type="http://schemas.openxmlformats.org/officeDocument/2006/relationships/image" Target="../media/image25.png"/><Relationship Id="rId49" Type="http://schemas.openxmlformats.org/officeDocument/2006/relationships/customXml" Target="../ink/ink24.xml"/><Relationship Id="rId10" Type="http://schemas.openxmlformats.org/officeDocument/2006/relationships/image" Target="../media/image12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9.png"/><Relationship Id="rId52" Type="http://schemas.openxmlformats.org/officeDocument/2006/relationships/image" Target="../media/image33.png"/><Relationship Id="rId4" Type="http://schemas.openxmlformats.org/officeDocument/2006/relationships/image" Target="../media/image9.png"/><Relationship Id="rId9" Type="http://schemas.openxmlformats.org/officeDocument/2006/relationships/customXml" Target="../ink/ink4.xml"/><Relationship Id="rId14" Type="http://schemas.openxmlformats.org/officeDocument/2006/relationships/image" Target="../media/image14.png"/><Relationship Id="rId22" Type="http://schemas.openxmlformats.org/officeDocument/2006/relationships/image" Target="../media/image18.png"/><Relationship Id="rId27" Type="http://schemas.openxmlformats.org/officeDocument/2006/relationships/customXml" Target="../ink/ink13.xml"/><Relationship Id="rId30" Type="http://schemas.openxmlformats.org/officeDocument/2006/relationships/image" Target="../media/image22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31.png"/><Relationship Id="rId56" Type="http://schemas.openxmlformats.org/officeDocument/2006/relationships/image" Target="../media/image35.png"/><Relationship Id="rId8" Type="http://schemas.openxmlformats.org/officeDocument/2006/relationships/image" Target="../media/image11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customXml" Target="../ink/ink28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1781F-5CF3-4CEC-B157-1C4C3846AD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400" b="1" dirty="0">
                <a:latin typeface="+mn-ea"/>
                <a:ea typeface="+mn-ea"/>
              </a:rPr>
              <a:t>Camera Calibration</a:t>
            </a:r>
            <a:endParaRPr lang="ko-KR" altLang="en-US" sz="4400" b="1" dirty="0">
              <a:latin typeface="+mn-ea"/>
              <a:ea typeface="+mn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656F9A4-1262-4AD3-A52C-C93B5A691F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광운대학교 로봇학부</a:t>
            </a:r>
            <a:endParaRPr lang="en-US" altLang="ko-KR" sz="1800" dirty="0"/>
          </a:p>
          <a:p>
            <a:r>
              <a:rPr lang="en-US" altLang="ko-KR" sz="1800" dirty="0"/>
              <a:t>2018741022 </a:t>
            </a:r>
            <a:r>
              <a:rPr lang="ko-KR" altLang="en-US" sz="1800" dirty="0"/>
              <a:t>이기진</a:t>
            </a:r>
          </a:p>
        </p:txBody>
      </p:sp>
    </p:spTree>
    <p:extLst>
      <p:ext uri="{BB962C8B-B14F-4D97-AF65-F5344CB8AC3E}">
        <p14:creationId xmlns:p14="http://schemas.microsoft.com/office/powerpoint/2010/main" val="2636405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E80F7B-DCFF-4A3B-900C-A81D1B350A62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목차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7223BD5-730A-4C2C-9B55-791B05243963}"/>
              </a:ext>
            </a:extLst>
          </p:cNvPr>
          <p:cNvSpPr txBox="1"/>
          <p:nvPr/>
        </p:nvSpPr>
        <p:spPr>
          <a:xfrm>
            <a:off x="780472" y="866202"/>
            <a:ext cx="10631055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Camera Calibration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Pinhole Camera Model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Camera Matrix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/>
              <a:t>Projection Matrix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873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Camera Calibration</a:t>
            </a:r>
            <a:endParaRPr lang="ko-KR" altLang="en-US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255652-76CE-4F08-8C96-30C3C1B6687A}"/>
              </a:ext>
            </a:extLst>
          </p:cNvPr>
          <p:cNvSpPr txBox="1"/>
          <p:nvPr/>
        </p:nvSpPr>
        <p:spPr>
          <a:xfrm>
            <a:off x="1108099" y="1237941"/>
            <a:ext cx="9975801" cy="2784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3d </a:t>
            </a:r>
            <a:r>
              <a:rPr lang="ko-KR" altLang="en-US" dirty="0"/>
              <a:t>세상을 </a:t>
            </a:r>
            <a:r>
              <a:rPr lang="en-US" altLang="ko-KR" dirty="0"/>
              <a:t>2d </a:t>
            </a:r>
            <a:r>
              <a:rPr lang="ko-KR" altLang="en-US" dirty="0"/>
              <a:t>이미지로 담는 과정에서 발생하는 왜곡을 보정하는 것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보정을 해야만 실제 </a:t>
            </a:r>
            <a:r>
              <a:rPr lang="en-US" altLang="ko-KR" dirty="0"/>
              <a:t>3</a:t>
            </a:r>
            <a:r>
              <a:rPr lang="ko-KR" altLang="en-US" dirty="0"/>
              <a:t>차원 공간상의 좌표와 일치시킬 수 있음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영상처리</a:t>
            </a:r>
            <a:r>
              <a:rPr lang="en-US" altLang="ko-KR" dirty="0"/>
              <a:t>, </a:t>
            </a:r>
            <a:r>
              <a:rPr lang="ko-KR" altLang="en-US" dirty="0"/>
              <a:t>컴퓨터 비전 분야에서 꼭 필요함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ADAS(Advanced Driver Assistance Systems)</a:t>
            </a:r>
            <a:r>
              <a:rPr lang="ko-KR" altLang="en-US" dirty="0"/>
              <a:t>에서는 더욱더 정확하고 효율적인 왜곡의 보정이 필요</a:t>
            </a:r>
            <a:endParaRPr lang="en-US" altLang="ko-KR" dirty="0"/>
          </a:p>
          <a:p>
            <a:pPr>
              <a:lnSpc>
                <a:spcPct val="20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13460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Pinhole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Camera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Model(</a:t>
            </a:r>
            <a:r>
              <a:rPr lang="ko-KR" altLang="en-US" sz="2800" b="1" dirty="0"/>
              <a:t>바늘 구멍 사진기</a:t>
            </a:r>
            <a:r>
              <a:rPr lang="en-US" altLang="ko-KR" sz="2800" b="1" dirty="0"/>
              <a:t>)</a:t>
            </a:r>
            <a:endParaRPr lang="ko-KR" altLang="en-US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26C4BC-569C-437E-8C70-FBA75E927A52}"/>
              </a:ext>
            </a:extLst>
          </p:cNvPr>
          <p:cNvSpPr txBox="1"/>
          <p:nvPr/>
        </p:nvSpPr>
        <p:spPr>
          <a:xfrm>
            <a:off x="2495004" y="886371"/>
            <a:ext cx="7201989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하나의 바늘구멍</a:t>
            </a:r>
            <a:r>
              <a:rPr lang="en-US" altLang="ko-KR" dirty="0"/>
              <a:t>(</a:t>
            </a:r>
            <a:r>
              <a:rPr lang="ko-KR" altLang="en-US" dirty="0"/>
              <a:t>렌즈의 중심</a:t>
            </a:r>
            <a:r>
              <a:rPr lang="en-US" altLang="ko-KR" dirty="0"/>
              <a:t>)</a:t>
            </a:r>
            <a:r>
              <a:rPr lang="ko-KR" altLang="en-US" dirty="0"/>
              <a:t>을 통해 외부의 상이 이미지로 투영</a:t>
            </a:r>
            <a:r>
              <a:rPr lang="en-US" altLang="ko-KR" dirty="0"/>
              <a:t>(</a:t>
            </a:r>
            <a:r>
              <a:rPr lang="ko-KR" altLang="en-US" dirty="0"/>
              <a:t>빛의 </a:t>
            </a:r>
            <a:r>
              <a:rPr lang="ko-KR" altLang="en-US" dirty="0" err="1"/>
              <a:t>직진성</a:t>
            </a:r>
            <a:r>
              <a:rPr lang="ko-KR" altLang="en-US" dirty="0"/>
              <a:t> 활용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바늘구멍으로부터 상이 맺히는 곳까지의 거리가 </a:t>
            </a:r>
            <a:r>
              <a:rPr lang="ko-KR" altLang="en-US" dirty="0">
                <a:solidFill>
                  <a:srgbClr val="FF0000"/>
                </a:solidFill>
              </a:rPr>
              <a:t>초점거리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렌즈를 사용하는 카메라는 영상 왜곡의 가능성이 있음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일반적으로 사용되는 카메라 모델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C1B811-C936-4B7E-91AC-844252A1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9" y="3176180"/>
            <a:ext cx="6096000" cy="304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2FD7FA-CF7E-4360-AF2B-ECADA2A239CA}"/>
              </a:ext>
            </a:extLst>
          </p:cNvPr>
          <p:cNvSpPr txBox="1"/>
          <p:nvPr/>
        </p:nvSpPr>
        <p:spPr>
          <a:xfrm>
            <a:off x="3047999" y="6023950"/>
            <a:ext cx="5860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렌즈의 사용으로 한꺼번에 많은 빛을 모아줘 빠른 영상 획득이 가능하다</a:t>
            </a:r>
            <a:r>
              <a:rPr lang="en-US" altLang="ko-KR" sz="1400" dirty="0"/>
              <a:t>!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48494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Pinhole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Camera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Model(</a:t>
            </a:r>
            <a:r>
              <a:rPr lang="ko-KR" altLang="en-US" sz="2800" b="1" dirty="0"/>
              <a:t>바늘 구멍 사진기</a:t>
            </a:r>
            <a:r>
              <a:rPr lang="en-US" altLang="ko-KR" sz="2800" b="1" dirty="0"/>
              <a:t>)</a:t>
            </a:r>
            <a:endParaRPr lang="ko-KR" altLang="en-US" sz="28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B4158D2-6E30-41E1-8369-4E0BCB4F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8" t="2874" r="9600" b="21163"/>
          <a:stretch/>
        </p:blipFill>
        <p:spPr>
          <a:xfrm>
            <a:off x="252548" y="996204"/>
            <a:ext cx="3224226" cy="22847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DB636BD-B48F-4D99-8AD9-91E7314911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8" t="3447" r="9932" b="21980"/>
          <a:stretch/>
        </p:blipFill>
        <p:spPr>
          <a:xfrm>
            <a:off x="252548" y="3280955"/>
            <a:ext cx="3224226" cy="23049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3C304F-D720-4319-8F90-1429D24E05F6}"/>
              </a:ext>
            </a:extLst>
          </p:cNvPr>
          <p:cNvSpPr txBox="1"/>
          <p:nvPr/>
        </p:nvSpPr>
        <p:spPr>
          <a:xfrm>
            <a:off x="3471147" y="1145279"/>
            <a:ext cx="64597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방사 왜곡</a:t>
            </a:r>
            <a:r>
              <a:rPr lang="en-US" altLang="ko-KR" dirty="0"/>
              <a:t>(radial distortion)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볼록렌즈의 굴절률에 의한 것으로</a:t>
            </a:r>
            <a:r>
              <a:rPr lang="en-US" altLang="ko-KR" dirty="0"/>
              <a:t>, </a:t>
            </a:r>
            <a:r>
              <a:rPr lang="ko-KR" altLang="en-US" dirty="0"/>
              <a:t>중심에서 멀어질 수록 왜곡의 정도가 </a:t>
            </a:r>
            <a:r>
              <a:rPr lang="ko-KR" altLang="en-US" dirty="0" err="1"/>
              <a:t>심해짐</a:t>
            </a:r>
            <a:r>
              <a:rPr lang="en-US" altLang="ko-KR" dirty="0"/>
              <a:t>, </a:t>
            </a:r>
            <a:r>
              <a:rPr lang="ko-KR" altLang="en-US" dirty="0"/>
              <a:t>렌즈 제조 과정에서의 왜곡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9DF05F-F08A-423C-A0AE-2695460E16D2}"/>
              </a:ext>
            </a:extLst>
          </p:cNvPr>
          <p:cNvSpPr txBox="1"/>
          <p:nvPr/>
        </p:nvSpPr>
        <p:spPr>
          <a:xfrm>
            <a:off x="3471147" y="3354874"/>
            <a:ext cx="64597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접선 왜곡</a:t>
            </a:r>
            <a:r>
              <a:rPr lang="en-US" altLang="ko-KR" dirty="0"/>
              <a:t>(tangential distortion)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카메라 렌즈와 이미지센서의 수평 정렬이 맞지 않거나</a:t>
            </a:r>
            <a:r>
              <a:rPr lang="en-US" altLang="ko-KR" dirty="0"/>
              <a:t>, </a:t>
            </a:r>
            <a:r>
              <a:rPr lang="ko-KR" altLang="en-US" dirty="0"/>
              <a:t>렌즈 자체의 </a:t>
            </a:r>
            <a:r>
              <a:rPr lang="en-US" altLang="ko-KR" dirty="0"/>
              <a:t>centering</a:t>
            </a:r>
            <a:r>
              <a:rPr lang="ko-KR" altLang="en-US" dirty="0"/>
              <a:t>이 맞지 않는 경우 발생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타원 형태의 왜곡 분포</a:t>
            </a:r>
          </a:p>
        </p:txBody>
      </p:sp>
      <p:pic>
        <p:nvPicPr>
          <p:cNvPr id="15" name="그림 14" descr="실외, 재갈이(가) 표시된 사진&#10;&#10;자동 생성된 설명">
            <a:extLst>
              <a:ext uri="{FF2B5EF4-FFF2-40B4-BE49-F238E27FC236}">
                <a16:creationId xmlns:a16="http://schemas.microsoft.com/office/drawing/2014/main" id="{045C36CD-6B7A-4692-ACBB-DBA12C8692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967" y="1857727"/>
            <a:ext cx="2215778" cy="149714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FD08A42-C12F-4CF6-AFA2-FDADB0CFFD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845" y="4148177"/>
            <a:ext cx="1987051" cy="159602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7AC4AD5-428D-4BA6-977B-21D36A2024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699" y="4222096"/>
            <a:ext cx="1771650" cy="138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75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Camera Matrix</a:t>
            </a:r>
            <a:endParaRPr lang="ko-KR" altLang="en-US" sz="28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8533E6-A17F-4028-8C38-712199F2E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1" y="1012292"/>
            <a:ext cx="3652678" cy="21278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D15431-B49C-4FDA-A9DD-8FEA06E9A6E7}"/>
              </a:ext>
            </a:extLst>
          </p:cNvPr>
          <p:cNvSpPr txBox="1"/>
          <p:nvPr/>
        </p:nvSpPr>
        <p:spPr>
          <a:xfrm>
            <a:off x="4563293" y="907010"/>
            <a:ext cx="5259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3d </a:t>
            </a:r>
            <a:r>
              <a:rPr lang="ko-KR" altLang="en-US" dirty="0"/>
              <a:t>이미지에서 </a:t>
            </a:r>
            <a:r>
              <a:rPr lang="en-US" altLang="ko-KR" dirty="0"/>
              <a:t>2d </a:t>
            </a:r>
            <a:r>
              <a:rPr lang="ko-KR" altLang="en-US" dirty="0"/>
              <a:t>이미지로의 변환 관계를 나타냄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(</a:t>
            </a:r>
            <a:r>
              <a:rPr lang="en-US" altLang="ko-KR" dirty="0" err="1"/>
              <a:t>x,y,z</a:t>
            </a:r>
            <a:r>
              <a:rPr lang="en-US" altLang="ko-KR" dirty="0"/>
              <a:t>): 3d</a:t>
            </a:r>
            <a:r>
              <a:rPr lang="ko-KR" altLang="en-US" dirty="0"/>
              <a:t> </a:t>
            </a:r>
            <a:r>
              <a:rPr lang="en-US" altLang="ko-KR" dirty="0"/>
              <a:t>coordinates on world coordinate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A: intrinsic camera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[</a:t>
            </a:r>
            <a:r>
              <a:rPr lang="en-US" altLang="ko-KR" dirty="0" err="1"/>
              <a:t>R|t</a:t>
            </a:r>
            <a:r>
              <a:rPr lang="en-US" altLang="ko-KR" dirty="0"/>
              <a:t>]: roto-translation matrix</a:t>
            </a:r>
            <a:r>
              <a:rPr lang="ko-KR" altLang="en-US" dirty="0"/>
              <a:t> </a:t>
            </a:r>
            <a:r>
              <a:rPr lang="en-US" altLang="ko-KR" dirty="0"/>
              <a:t>(extrinsic parameters)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1AF4B00-E783-4427-8890-E4CAB41A14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74" t="6613" r="44941" b="55409"/>
          <a:stretch/>
        </p:blipFill>
        <p:spPr>
          <a:xfrm>
            <a:off x="9901645" y="1246648"/>
            <a:ext cx="1515293" cy="808095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E9F9A36-58EA-4805-A7FD-E81F14BE3A75}"/>
              </a:ext>
            </a:extLst>
          </p:cNvPr>
          <p:cNvGrpSpPr/>
          <p:nvPr/>
        </p:nvGrpSpPr>
        <p:grpSpPr>
          <a:xfrm>
            <a:off x="7419600" y="1532297"/>
            <a:ext cx="2328840" cy="164520"/>
            <a:chOff x="7419600" y="1532297"/>
            <a:chExt cx="2328840" cy="16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4133CEFC-CF77-4705-A0A7-C98D183EA420}"/>
                    </a:ext>
                  </a:extLst>
                </p14:cNvPr>
                <p14:cNvContentPartPr/>
                <p14:nvPr/>
              </p14:nvContentPartPr>
              <p14:xfrm>
                <a:off x="7419600" y="1618697"/>
                <a:ext cx="2328840" cy="5400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4133CEFC-CF77-4705-A0A7-C98D183EA42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10600" y="1610057"/>
                  <a:ext cx="23464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7EB634D8-58E6-4347-950E-2C848B3A2D2D}"/>
                    </a:ext>
                  </a:extLst>
                </p14:cNvPr>
                <p14:cNvContentPartPr/>
                <p14:nvPr/>
              </p14:nvContentPartPr>
              <p14:xfrm>
                <a:off x="9666360" y="1532297"/>
                <a:ext cx="60480" cy="16452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7EB634D8-58E6-4347-950E-2C848B3A2D2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57360" y="1523657"/>
                  <a:ext cx="78120" cy="182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4B6C192-4063-4288-A6D7-C883052D04B0}"/>
              </a:ext>
            </a:extLst>
          </p:cNvPr>
          <p:cNvSpPr txBox="1"/>
          <p:nvPr/>
        </p:nvSpPr>
        <p:spPr>
          <a:xfrm>
            <a:off x="2443560" y="2518907"/>
            <a:ext cx="8734698" cy="3791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On Camera Matrix(intrinsic camera parameters)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altLang="ko-KR" sz="1600" dirty="0"/>
              <a:t>fx, </a:t>
            </a:r>
            <a:r>
              <a:rPr lang="en-US" altLang="ko-KR" sz="1600" dirty="0" err="1"/>
              <a:t>fy</a:t>
            </a:r>
            <a:r>
              <a:rPr lang="en-US" altLang="ko-KR" sz="1600" dirty="0"/>
              <a:t>: </a:t>
            </a:r>
            <a:r>
              <a:rPr lang="ko-KR" altLang="en-US" sz="1600" dirty="0"/>
              <a:t>초점 거리</a:t>
            </a:r>
            <a:r>
              <a:rPr lang="en-US" altLang="ko-KR" sz="1600" dirty="0"/>
              <a:t>(focal length)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픽셀단위로 표현됨</a:t>
            </a:r>
            <a:r>
              <a:rPr lang="en-US" altLang="ko-KR" sz="1600" dirty="0"/>
              <a:t>(</a:t>
            </a:r>
            <a:r>
              <a:rPr lang="ko-KR" altLang="en-US" sz="1600" dirty="0"/>
              <a:t>이미지 센서의 셀 기준</a:t>
            </a:r>
            <a:r>
              <a:rPr lang="en-US" altLang="ko-KR" sz="1600" dirty="0"/>
              <a:t>)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가로</a:t>
            </a:r>
            <a:r>
              <a:rPr lang="en-US" altLang="ko-KR" sz="1600" dirty="0"/>
              <a:t>, </a:t>
            </a:r>
            <a:r>
              <a:rPr lang="ko-KR" altLang="en-US" sz="1600" dirty="0"/>
              <a:t>세로의 픽셀길이가 다를 경우가 있어 그 배수를 나타내려</a:t>
            </a:r>
            <a:r>
              <a:rPr lang="en-US" altLang="ko-KR" sz="1600" dirty="0"/>
              <a:t>fx, </a:t>
            </a:r>
            <a:r>
              <a:rPr lang="en-US" altLang="ko-KR" sz="1600" dirty="0" err="1"/>
              <a:t>fy</a:t>
            </a:r>
            <a:r>
              <a:rPr lang="ko-KR" altLang="en-US" sz="1600" dirty="0"/>
              <a:t>를 사용함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최신 카메라는 </a:t>
            </a:r>
            <a:r>
              <a:rPr lang="en-US" altLang="ko-KR" sz="1600" dirty="0"/>
              <a:t>fx, </a:t>
            </a:r>
            <a:r>
              <a:rPr lang="en-US" altLang="ko-KR" sz="1600" dirty="0" err="1"/>
              <a:t>fy</a:t>
            </a:r>
            <a:r>
              <a:rPr lang="ko-KR" altLang="en-US" sz="1600" dirty="0"/>
              <a:t>차이가 거의 없음</a:t>
            </a:r>
            <a:endParaRPr lang="en-US" altLang="ko-KR" sz="1600" dirty="0"/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endParaRPr lang="en-US" altLang="ko-KR" sz="1600" dirty="0"/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altLang="ko-KR" sz="1600" dirty="0"/>
              <a:t>cx,</a:t>
            </a:r>
            <a:r>
              <a:rPr lang="ko-KR" altLang="en-US" sz="1600" dirty="0"/>
              <a:t> </a:t>
            </a:r>
            <a:r>
              <a:rPr lang="en-US" altLang="ko-KR" sz="1600" dirty="0"/>
              <a:t>cy:</a:t>
            </a:r>
            <a:r>
              <a:rPr lang="ko-KR" altLang="en-US" sz="1600" dirty="0"/>
              <a:t> 주점</a:t>
            </a:r>
            <a:r>
              <a:rPr lang="en-US" altLang="ko-KR" sz="1600" dirty="0"/>
              <a:t>(principal point)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카메라 렌즈의 중심에서 </a:t>
            </a:r>
            <a:r>
              <a:rPr lang="ko-KR" altLang="en-US" sz="1600" dirty="0" err="1"/>
              <a:t>핀홀</a:t>
            </a:r>
            <a:r>
              <a:rPr lang="ko-KR" altLang="en-US" sz="1600" dirty="0"/>
              <a:t> 이미지 센서에 내린 수선의 영상좌표</a:t>
            </a:r>
            <a:r>
              <a:rPr lang="en-US" altLang="ko-KR" sz="1600" dirty="0"/>
              <a:t>(</a:t>
            </a:r>
            <a:r>
              <a:rPr lang="ko-KR" altLang="en-US" sz="1600" dirty="0"/>
              <a:t>픽셀 단위</a:t>
            </a:r>
            <a:r>
              <a:rPr lang="en-US" altLang="ko-KR" sz="1600" dirty="0"/>
              <a:t>)	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영상 중심점 </a:t>
            </a:r>
            <a:r>
              <a:rPr lang="en-US" altLang="ko-KR" sz="1600" dirty="0"/>
              <a:t>(image </a:t>
            </a:r>
            <a:r>
              <a:rPr lang="en-US" altLang="ko-KR" sz="1600" dirty="0" err="1"/>
              <a:t>centre</a:t>
            </a:r>
            <a:r>
              <a:rPr lang="en-US" altLang="ko-KR" sz="1600" dirty="0"/>
              <a:t>)</a:t>
            </a:r>
            <a:r>
              <a:rPr lang="ko-KR" altLang="en-US" sz="1600" dirty="0"/>
              <a:t> 와는 다름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영상의 기하학적 해석이 이루어지는 지점</a:t>
            </a:r>
            <a:endParaRPr lang="en-US" altLang="ko-KR" sz="1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AA05A5AC-FE2F-49F8-ABB1-76D0EB4A868A}"/>
                  </a:ext>
                </a:extLst>
              </p14:cNvPr>
              <p14:cNvContentPartPr/>
              <p14:nvPr/>
            </p14:nvContentPartPr>
            <p14:xfrm>
              <a:off x="2529360" y="1628469"/>
              <a:ext cx="2173320" cy="105804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AA05A5AC-FE2F-49F8-ABB1-76D0EB4A868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20720" y="1619469"/>
                <a:ext cx="2190960" cy="10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1242B8DD-DB5D-4721-8C30-82051D9363AD}"/>
                  </a:ext>
                </a:extLst>
              </p14:cNvPr>
              <p14:cNvContentPartPr/>
              <p14:nvPr/>
            </p14:nvContentPartPr>
            <p14:xfrm>
              <a:off x="4475880" y="2307429"/>
              <a:ext cx="2376720" cy="39744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1242B8DD-DB5D-4721-8C30-82051D9363A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67240" y="2298789"/>
                <a:ext cx="2394360" cy="41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그룹 15">
            <a:extLst>
              <a:ext uri="{FF2B5EF4-FFF2-40B4-BE49-F238E27FC236}">
                <a16:creationId xmlns:a16="http://schemas.microsoft.com/office/drawing/2014/main" id="{C4A2DC7C-C857-4935-BF59-718D25829C77}"/>
              </a:ext>
            </a:extLst>
          </p:cNvPr>
          <p:cNvGrpSpPr/>
          <p:nvPr/>
        </p:nvGrpSpPr>
        <p:grpSpPr>
          <a:xfrm>
            <a:off x="261000" y="1950257"/>
            <a:ext cx="882360" cy="386640"/>
            <a:chOff x="261000" y="1950257"/>
            <a:chExt cx="88236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E732E7B4-E73C-4D09-9935-8E5932C1F2F1}"/>
                    </a:ext>
                  </a:extLst>
                </p14:cNvPr>
                <p14:cNvContentPartPr/>
                <p14:nvPr/>
              </p14:nvContentPartPr>
              <p14:xfrm>
                <a:off x="753840" y="1950257"/>
                <a:ext cx="82080" cy="9612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E732E7B4-E73C-4D09-9935-8E5932C1F2F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44840" y="1941617"/>
                  <a:ext cx="997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C3884BF9-C388-4EF9-BD81-D6CD95C27B53}"/>
                    </a:ext>
                  </a:extLst>
                </p14:cNvPr>
                <p14:cNvContentPartPr/>
                <p14:nvPr/>
              </p14:nvContentPartPr>
              <p14:xfrm>
                <a:off x="713880" y="1950257"/>
                <a:ext cx="161640" cy="8928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C3884BF9-C388-4EF9-BD81-D6CD95C27B5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5240" y="1941617"/>
                  <a:ext cx="1792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F4F7D51F-63E4-49E0-8ABC-BC3EB6B9359E}"/>
                    </a:ext>
                  </a:extLst>
                </p14:cNvPr>
                <p14:cNvContentPartPr/>
                <p14:nvPr/>
              </p14:nvContentPartPr>
              <p14:xfrm>
                <a:off x="287280" y="2142137"/>
                <a:ext cx="360" cy="763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F4F7D51F-63E4-49E0-8ABC-BC3EB6B9359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8640" y="2133497"/>
                  <a:ext cx="180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A7CF9771-B8B5-4221-8743-D1CE1D254A3C}"/>
                    </a:ext>
                  </a:extLst>
                </p14:cNvPr>
                <p14:cNvContentPartPr/>
                <p14:nvPr/>
              </p14:nvContentPartPr>
              <p14:xfrm>
                <a:off x="261000" y="1994177"/>
                <a:ext cx="360" cy="18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A7CF9771-B8B5-4221-8743-D1CE1D254A3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2360" y="1985537"/>
                  <a:ext cx="18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8421CAF-A27E-40F0-8694-5ABC95CDE770}"/>
                    </a:ext>
                  </a:extLst>
                </p14:cNvPr>
                <p14:cNvContentPartPr/>
                <p14:nvPr/>
              </p14:nvContentPartPr>
              <p14:xfrm>
                <a:off x="373320" y="2126297"/>
                <a:ext cx="216360" cy="874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8421CAF-A27E-40F0-8694-5ABC95CDE77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4680" y="2117297"/>
                  <a:ext cx="2340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3E2CBE89-214F-49F6-822F-F8F54BE05D08}"/>
                    </a:ext>
                  </a:extLst>
                </p14:cNvPr>
                <p14:cNvContentPartPr/>
                <p14:nvPr/>
              </p14:nvContentPartPr>
              <p14:xfrm>
                <a:off x="663120" y="2168417"/>
                <a:ext cx="182160" cy="889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3E2CBE89-214F-49F6-822F-F8F54BE05D0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54480" y="2159417"/>
                  <a:ext cx="199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6A7DA95F-6766-4315-B75B-10FAFE21B895}"/>
                    </a:ext>
                  </a:extLst>
                </p14:cNvPr>
                <p14:cNvContentPartPr/>
                <p14:nvPr/>
              </p14:nvContentPartPr>
              <p14:xfrm>
                <a:off x="879840" y="2159417"/>
                <a:ext cx="106200" cy="1774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6A7DA95F-6766-4315-B75B-10FAFE21B89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70840" y="2150417"/>
                  <a:ext cx="1238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4471E3C6-1BA8-4AEE-BCC9-98E2FE6A536E}"/>
                    </a:ext>
                  </a:extLst>
                </p14:cNvPr>
                <p14:cNvContentPartPr/>
                <p14:nvPr/>
              </p14:nvContentPartPr>
              <p14:xfrm>
                <a:off x="1018080" y="2075537"/>
                <a:ext cx="125280" cy="2098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4471E3C6-1BA8-4AEE-BCC9-98E2FE6A536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09080" y="2066537"/>
                  <a:ext cx="14292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2A1ECC0-A813-439E-8746-539EE78BA20B}"/>
              </a:ext>
            </a:extLst>
          </p:cNvPr>
          <p:cNvGrpSpPr/>
          <p:nvPr/>
        </p:nvGrpSpPr>
        <p:grpSpPr>
          <a:xfrm>
            <a:off x="4049280" y="409097"/>
            <a:ext cx="1176120" cy="557640"/>
            <a:chOff x="4049280" y="409097"/>
            <a:chExt cx="1176120" cy="55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0A809376-E566-451A-B54C-EFF8BD171EFD}"/>
                    </a:ext>
                  </a:extLst>
                </p14:cNvPr>
                <p14:cNvContentPartPr/>
                <p14:nvPr/>
              </p14:nvContentPartPr>
              <p14:xfrm>
                <a:off x="4049280" y="617897"/>
                <a:ext cx="269640" cy="34884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0A809376-E566-451A-B54C-EFF8BD171EF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040640" y="609257"/>
                  <a:ext cx="2872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3BEF2D88-25C3-4F5B-AF39-CE8192E9E733}"/>
                    </a:ext>
                  </a:extLst>
                </p14:cNvPr>
                <p14:cNvContentPartPr/>
                <p14:nvPr/>
              </p14:nvContentPartPr>
              <p14:xfrm>
                <a:off x="4310640" y="557057"/>
                <a:ext cx="85320" cy="15228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3BEF2D88-25C3-4F5B-AF39-CE8192E9E73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301640" y="548417"/>
                  <a:ext cx="1029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43129C28-3882-40B0-829F-E01825EAD92E}"/>
                    </a:ext>
                  </a:extLst>
                </p14:cNvPr>
                <p14:cNvContentPartPr/>
                <p14:nvPr/>
              </p14:nvContentPartPr>
              <p14:xfrm>
                <a:off x="4484520" y="522137"/>
                <a:ext cx="82080" cy="993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43129C28-3882-40B0-829F-E01825EAD92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475880" y="513497"/>
                  <a:ext cx="99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BD03AA6D-9788-48C5-B1D4-910E456CB881}"/>
                    </a:ext>
                  </a:extLst>
                </p14:cNvPr>
                <p14:cNvContentPartPr/>
                <p14:nvPr/>
              </p14:nvContentPartPr>
              <p14:xfrm>
                <a:off x="4580640" y="496217"/>
                <a:ext cx="130680" cy="14400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BD03AA6D-9788-48C5-B1D4-910E456CB88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572000" y="487577"/>
                  <a:ext cx="148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2601124B-C16B-4D75-9538-64C7969EB1B6}"/>
                    </a:ext>
                  </a:extLst>
                </p14:cNvPr>
                <p14:cNvContentPartPr/>
                <p14:nvPr/>
              </p14:nvContentPartPr>
              <p14:xfrm>
                <a:off x="4751280" y="490097"/>
                <a:ext cx="84240" cy="13860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2601124B-C16B-4D75-9538-64C7969EB1B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742640" y="481457"/>
                  <a:ext cx="1018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6DD9EAD0-F625-4893-B6F1-909EAA632B13}"/>
                    </a:ext>
                  </a:extLst>
                </p14:cNvPr>
                <p14:cNvContentPartPr/>
                <p14:nvPr/>
              </p14:nvContentPartPr>
              <p14:xfrm>
                <a:off x="4885560" y="487217"/>
                <a:ext cx="69840" cy="7524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6DD9EAD0-F625-4893-B6F1-909EAA632B1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876560" y="478577"/>
                  <a:ext cx="874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F9DFD46C-E3E7-4876-9A15-78F544E35636}"/>
                    </a:ext>
                  </a:extLst>
                </p14:cNvPr>
                <p14:cNvContentPartPr/>
                <p14:nvPr/>
              </p14:nvContentPartPr>
              <p14:xfrm>
                <a:off x="5033160" y="417737"/>
                <a:ext cx="42840" cy="16272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F9DFD46C-E3E7-4876-9A15-78F544E3563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024520" y="409097"/>
                  <a:ext cx="60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8661D184-6DC8-44E0-ACD6-F776581F1982}"/>
                    </a:ext>
                  </a:extLst>
                </p14:cNvPr>
                <p14:cNvContentPartPr/>
                <p14:nvPr/>
              </p14:nvContentPartPr>
              <p14:xfrm>
                <a:off x="5083560" y="409097"/>
                <a:ext cx="141840" cy="17604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8661D184-6DC8-44E0-ACD6-F776581F198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074920" y="400097"/>
                  <a:ext cx="15948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6B860A7-58EC-435C-8DC5-40F86F12F6DE}"/>
              </a:ext>
            </a:extLst>
          </p:cNvPr>
          <p:cNvGrpSpPr/>
          <p:nvPr/>
        </p:nvGrpSpPr>
        <p:grpSpPr>
          <a:xfrm>
            <a:off x="5468760" y="356897"/>
            <a:ext cx="756720" cy="351000"/>
            <a:chOff x="5468760" y="356897"/>
            <a:chExt cx="756720" cy="35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59D1846D-E887-46D1-B465-CED9E4456DA9}"/>
                    </a:ext>
                  </a:extLst>
                </p14:cNvPr>
                <p14:cNvContentPartPr/>
                <p14:nvPr/>
              </p14:nvContentPartPr>
              <p14:xfrm>
                <a:off x="5468760" y="463457"/>
                <a:ext cx="147600" cy="24444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59D1846D-E887-46D1-B465-CED9E4456DA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459760" y="454817"/>
                  <a:ext cx="1652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4E6BB095-B415-4978-8B5B-E03C85B650AB}"/>
                    </a:ext>
                  </a:extLst>
                </p14:cNvPr>
                <p14:cNvContentPartPr/>
                <p14:nvPr/>
              </p14:nvContentPartPr>
              <p14:xfrm>
                <a:off x="5693760" y="441497"/>
                <a:ext cx="60840" cy="11736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4E6BB095-B415-4978-8B5B-E03C85B650A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85120" y="432497"/>
                  <a:ext cx="784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F8ED3308-F3DC-4F3E-B2D4-9858ABB5EF40}"/>
                    </a:ext>
                  </a:extLst>
                </p14:cNvPr>
                <p14:cNvContentPartPr/>
                <p14:nvPr/>
              </p14:nvContentPartPr>
              <p14:xfrm>
                <a:off x="5825880" y="452657"/>
                <a:ext cx="25200" cy="8676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F8ED3308-F3DC-4F3E-B2D4-9858ABB5EF4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816880" y="444017"/>
                  <a:ext cx="428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B1F26048-D5DC-4316-B40A-FE91C9B01151}"/>
                    </a:ext>
                  </a:extLst>
                </p14:cNvPr>
                <p14:cNvContentPartPr/>
                <p14:nvPr/>
              </p14:nvContentPartPr>
              <p14:xfrm>
                <a:off x="5825880" y="356897"/>
                <a:ext cx="360" cy="2376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B1F26048-D5DC-4316-B40A-FE91C9B0115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816880" y="348257"/>
                  <a:ext cx="180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64FC2978-7916-40D7-A589-10305535A5E9}"/>
                    </a:ext>
                  </a:extLst>
                </p14:cNvPr>
                <p14:cNvContentPartPr/>
                <p14:nvPr/>
              </p14:nvContentPartPr>
              <p14:xfrm>
                <a:off x="5938920" y="444017"/>
                <a:ext cx="85680" cy="9288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64FC2978-7916-40D7-A589-10305535A5E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930280" y="435017"/>
                  <a:ext cx="1033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73E2DFB0-1A3F-4B47-A833-BED09BB76F93}"/>
                    </a:ext>
                  </a:extLst>
                </p14:cNvPr>
                <p14:cNvContentPartPr/>
                <p14:nvPr/>
              </p14:nvContentPartPr>
              <p14:xfrm>
                <a:off x="6093720" y="374177"/>
                <a:ext cx="131760" cy="16092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73E2DFB0-1A3F-4B47-A833-BED09BB76F9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085080" y="365177"/>
                  <a:ext cx="1494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009FA701-9E57-4CA2-9744-99C9DA1DD888}"/>
                    </a:ext>
                  </a:extLst>
                </p14:cNvPr>
                <p14:cNvContentPartPr/>
                <p14:nvPr/>
              </p14:nvContentPartPr>
              <p14:xfrm>
                <a:off x="6069600" y="444017"/>
                <a:ext cx="112320" cy="36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009FA701-9E57-4CA2-9744-99C9DA1DD88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060960" y="435017"/>
                  <a:ext cx="12996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45687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Camera Matrix</a:t>
            </a:r>
            <a:endParaRPr lang="ko-KR" altLang="en-US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1C830E-D2A6-462D-8DED-014B0894F006}"/>
              </a:ext>
            </a:extLst>
          </p:cNvPr>
          <p:cNvSpPr txBox="1"/>
          <p:nvPr/>
        </p:nvSpPr>
        <p:spPr>
          <a:xfrm>
            <a:off x="941052" y="2882536"/>
            <a:ext cx="103283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초점 거리</a:t>
            </a:r>
            <a:r>
              <a:rPr lang="en-US" altLang="ko-KR" sz="1600" dirty="0"/>
              <a:t>(focal length)</a:t>
            </a:r>
            <a:r>
              <a:rPr lang="ko-KR" altLang="en-US" sz="1600" dirty="0"/>
              <a:t>에 관하여</a:t>
            </a:r>
            <a:r>
              <a:rPr lang="en-US" altLang="ko-KR" sz="1600" dirty="0"/>
              <a:t>…</a:t>
            </a:r>
          </a:p>
          <a:p>
            <a:r>
              <a:rPr lang="ko-KR" altLang="en-US" sz="1600" dirty="0"/>
              <a:t>이미지의 해상도가 </a:t>
            </a:r>
            <a:r>
              <a:rPr lang="en-US" altLang="ko-KR" sz="1600" dirty="0"/>
              <a:t>½ </a:t>
            </a:r>
            <a:r>
              <a:rPr lang="ko-KR" altLang="en-US" sz="1600" dirty="0"/>
              <a:t>낮아지면 초점 거리</a:t>
            </a:r>
            <a:r>
              <a:rPr lang="en-US" altLang="ko-KR" sz="1600" dirty="0"/>
              <a:t>(</a:t>
            </a:r>
            <a:r>
              <a:rPr lang="ko-KR" altLang="en-US" sz="1600" dirty="0"/>
              <a:t>픽셀 기반</a:t>
            </a:r>
            <a:r>
              <a:rPr lang="en-US" altLang="ko-KR" sz="1600" dirty="0"/>
              <a:t>)</a:t>
            </a:r>
            <a:r>
              <a:rPr lang="ko-KR" altLang="en-US" sz="1600" dirty="0"/>
              <a:t>도 </a:t>
            </a:r>
            <a:r>
              <a:rPr lang="en-US" altLang="ko-KR" sz="1600" dirty="0"/>
              <a:t>½ </a:t>
            </a:r>
            <a:r>
              <a:rPr lang="ko-KR" altLang="en-US" sz="1600" dirty="0"/>
              <a:t>낮아짐</a:t>
            </a:r>
            <a:endParaRPr lang="en-US" altLang="ko-KR" sz="1600" dirty="0"/>
          </a:p>
          <a:p>
            <a:r>
              <a:rPr lang="en-US" altLang="ko-KR" sz="1600" dirty="0"/>
              <a:t>(but </a:t>
            </a:r>
            <a:r>
              <a:rPr lang="ko-KR" altLang="en-US" sz="1600" dirty="0"/>
              <a:t>픽셀 크기가 </a:t>
            </a:r>
            <a:r>
              <a:rPr lang="en-US" altLang="ko-KR" sz="1600" dirty="0"/>
              <a:t>2</a:t>
            </a:r>
            <a:r>
              <a:rPr lang="ko-KR" altLang="en-US" sz="1600" dirty="0"/>
              <a:t>배 커짐</a:t>
            </a:r>
            <a:r>
              <a:rPr lang="en-US" altLang="ko-KR" sz="1600" dirty="0"/>
              <a:t>, </a:t>
            </a:r>
            <a:r>
              <a:rPr lang="ko-KR" altLang="en-US" sz="1600" dirty="0"/>
              <a:t>실제 물리적 초점 거리는 그대로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20A116-DDEC-45AB-9BB0-27F1158C4CC8}"/>
                  </a:ext>
                </a:extLst>
              </p:cNvPr>
              <p:cNvSpPr txBox="1"/>
              <p:nvPr/>
            </p:nvSpPr>
            <p:spPr>
              <a:xfrm>
                <a:off x="941052" y="1051359"/>
                <a:ext cx="7192754" cy="1201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+mj-lt"/>
                  <a:buAutoNum type="alphaUcPeriod" startAt="3"/>
                </a:pPr>
                <a:r>
                  <a:rPr lang="en-US" altLang="ko-KR" sz="1600" dirty="0"/>
                  <a:t>skew_cf: </a:t>
                </a:r>
                <a:r>
                  <a:rPr lang="ko-KR" altLang="en-US" sz="1600" dirty="0"/>
                  <a:t>비대칭계수</a:t>
                </a:r>
                <a:r>
                  <a:rPr lang="en-US" altLang="ko-KR" sz="1600" dirty="0"/>
                  <a:t>(skew coefficient)</a:t>
                </a:r>
                <a:br>
                  <a:rPr lang="en-US" altLang="ko-KR" sz="1600" dirty="0"/>
                </a:br>
                <a:r>
                  <a:rPr lang="en-US" altLang="ko-KR" sz="1600" dirty="0"/>
                  <a:t>- </a:t>
                </a:r>
                <a:r>
                  <a:rPr lang="ko-KR" altLang="en-US" sz="1600" dirty="0"/>
                  <a:t>이미지 센서의 </a:t>
                </a:r>
                <a:r>
                  <a:rPr lang="en-US" altLang="ko-KR" sz="1600" dirty="0"/>
                  <a:t>cell array</a:t>
                </a:r>
                <a:r>
                  <a:rPr lang="ko-KR" altLang="en-US" sz="1600" dirty="0"/>
                  <a:t>의 </a:t>
                </a:r>
                <a:r>
                  <a:rPr lang="en-US" altLang="ko-KR" sz="1600" dirty="0"/>
                  <a:t>y</a:t>
                </a:r>
                <a:r>
                  <a:rPr lang="ko-KR" altLang="en-US" sz="1600" dirty="0"/>
                  <a:t>축이 기울어진 정도를 나타냄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US" altLang="ko-KR" sz="16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func>
                  </m:oMath>
                </a14:m>
                <a:r>
                  <a:rPr lang="en-US" altLang="ko-KR" sz="1600" dirty="0"/>
                  <a:t>)</a:t>
                </a:r>
                <a:br>
                  <a:rPr lang="en-US" altLang="ko-KR" sz="1600" dirty="0"/>
                </a:br>
                <a:r>
                  <a:rPr lang="en-US" altLang="ko-KR" sz="1600" dirty="0"/>
                  <a:t>- </a:t>
                </a:r>
                <a:r>
                  <a:rPr lang="ko-KR" altLang="en-US" sz="1600" dirty="0"/>
                  <a:t>최신 카메라는 </a:t>
                </a:r>
                <a:r>
                  <a:rPr lang="en-US" altLang="ko-KR" sz="1600" dirty="0"/>
                  <a:t>skew</a:t>
                </a:r>
                <a:r>
                  <a:rPr lang="ko-KR" altLang="en-US" sz="1600" dirty="0"/>
                  <a:t>에러가 거의 없음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20A116-DDEC-45AB-9BB0-27F1158C4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052" y="1051359"/>
                <a:ext cx="7192754" cy="1201291"/>
              </a:xfrm>
              <a:prstGeom prst="rect">
                <a:avLst/>
              </a:prstGeom>
              <a:blipFill>
                <a:blip r:embed="rId2"/>
                <a:stretch>
                  <a:fillRect l="-424" b="-2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그림 20">
            <a:extLst>
              <a:ext uri="{FF2B5EF4-FFF2-40B4-BE49-F238E27FC236}">
                <a16:creationId xmlns:a16="http://schemas.microsoft.com/office/drawing/2014/main" id="{E308FA39-4782-4D57-9AEE-21CD38E7D0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5" r="9800"/>
          <a:stretch/>
        </p:blipFill>
        <p:spPr>
          <a:xfrm>
            <a:off x="8813073" y="776063"/>
            <a:ext cx="1689463" cy="159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021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Projection Matrix</a:t>
            </a:r>
            <a:endParaRPr lang="ko-KR" altLang="en-US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FD38E3-363F-4450-BB3E-595AEFF44F3C}"/>
              </a:ext>
            </a:extLst>
          </p:cNvPr>
          <p:cNvSpPr txBox="1"/>
          <p:nvPr/>
        </p:nvSpPr>
        <p:spPr>
          <a:xfrm>
            <a:off x="1542207" y="750170"/>
            <a:ext cx="9126056" cy="1155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Projection Matrix vs Camera Matrix:  </a:t>
            </a:r>
            <a:r>
              <a:rPr lang="en-US" altLang="ko-KR" dirty="0"/>
              <a:t>A(Camera Matrix); 	A*[</a:t>
            </a:r>
            <a:r>
              <a:rPr lang="en-US" altLang="ko-KR" dirty="0" err="1"/>
              <a:t>R|t</a:t>
            </a:r>
            <a:r>
              <a:rPr lang="en-US" altLang="ko-KR" dirty="0"/>
              <a:t>](Projection Matrix)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Camera Matrix(3x3)</a:t>
            </a:r>
            <a:r>
              <a:rPr lang="ko-KR" altLang="en-US" dirty="0"/>
              <a:t>에 </a:t>
            </a:r>
            <a:r>
              <a:rPr lang="en-US" altLang="ko-KR" dirty="0"/>
              <a:t>Roto-Translation(3x4)</a:t>
            </a:r>
            <a:r>
              <a:rPr lang="ko-KR" altLang="en-US" dirty="0"/>
              <a:t>을 첨가한 것이 </a:t>
            </a:r>
            <a:r>
              <a:rPr lang="en-US" altLang="ko-KR" dirty="0"/>
              <a:t>Projection Matrix(3x4) </a:t>
            </a:r>
            <a:r>
              <a:rPr lang="ko-KR" altLang="en-US" dirty="0"/>
              <a:t>라고 할 수 있다</a:t>
            </a:r>
            <a:r>
              <a:rPr lang="en-US" altLang="ko-KR" dirty="0"/>
              <a:t>. </a:t>
            </a:r>
            <a:r>
              <a:rPr lang="ko-KR" altLang="en-US" dirty="0"/>
              <a:t>통틀어서 </a:t>
            </a:r>
            <a:r>
              <a:rPr lang="en-US" altLang="ko-KR" dirty="0"/>
              <a:t>Camera Matrix</a:t>
            </a:r>
            <a:r>
              <a:rPr lang="ko-KR" altLang="en-US" dirty="0"/>
              <a:t>라고 부르기도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424CB3-A3BD-4DE3-BDD1-8D8FA85E19F0}"/>
              </a:ext>
            </a:extLst>
          </p:cNvPr>
          <p:cNvSpPr txBox="1"/>
          <p:nvPr/>
        </p:nvSpPr>
        <p:spPr>
          <a:xfrm>
            <a:off x="1446018" y="1905294"/>
            <a:ext cx="9318434" cy="1709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Extrinsic Parameters(Roto-Translation)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카메라 좌표계와 세계 좌표계 사이의 변환관계를 설명하는 매개변수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두 좌표계 사이의 회전 및 평행이동 변환으로 표현됨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카메라를 설치한 위치 및 내가 잡은 월드 좌표계에 따라 달라짐</a:t>
            </a:r>
          </a:p>
        </p:txBody>
      </p:sp>
      <p:pic>
        <p:nvPicPr>
          <p:cNvPr id="6" name="그림 5" descr="텍스트, 시계이(가) 표시된 사진&#10;&#10;자동 생성된 설명">
            <a:extLst>
              <a:ext uri="{FF2B5EF4-FFF2-40B4-BE49-F238E27FC236}">
                <a16:creationId xmlns:a16="http://schemas.microsoft.com/office/drawing/2014/main" id="{885F495B-F82E-4AF7-8E5F-AE13898F9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038" y="4418336"/>
            <a:ext cx="4603134" cy="1538432"/>
          </a:xfrm>
          <a:prstGeom prst="rect">
            <a:avLst/>
          </a:prstGeom>
        </p:spPr>
      </p:pic>
      <p:pic>
        <p:nvPicPr>
          <p:cNvPr id="9" name="그림 8" descr="텍스트, 시계이(가) 표시된 사진&#10;&#10;자동 생성된 설명">
            <a:extLst>
              <a:ext uri="{FF2B5EF4-FFF2-40B4-BE49-F238E27FC236}">
                <a16:creationId xmlns:a16="http://schemas.microsoft.com/office/drawing/2014/main" id="{099F9547-D054-4BD1-BCA0-7D900F8E1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90" y="4424417"/>
            <a:ext cx="5162564" cy="15262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80C688-C6E6-401D-97C9-0E6F623F09B5}"/>
              </a:ext>
            </a:extLst>
          </p:cNvPr>
          <p:cNvSpPr txBox="1"/>
          <p:nvPr/>
        </p:nvSpPr>
        <p:spPr>
          <a:xfrm>
            <a:off x="5425966" y="3786082"/>
            <a:ext cx="1358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P = K[</a:t>
            </a:r>
            <a:r>
              <a:rPr lang="en-US" altLang="ko-KR" sz="2000" b="1" dirty="0" err="1"/>
              <a:t>R|t</a:t>
            </a:r>
            <a:r>
              <a:rPr lang="en-US" altLang="ko-KR" sz="2000" b="1" dirty="0"/>
              <a:t>]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241942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6DF347-1E07-4964-9592-C39FC96E3947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342250-B58F-43BA-A9EA-1A247B731670}"/>
              </a:ext>
            </a:extLst>
          </p:cNvPr>
          <p:cNvSpPr txBox="1"/>
          <p:nvPr/>
        </p:nvSpPr>
        <p:spPr>
          <a:xfrm>
            <a:off x="683490" y="200208"/>
            <a:ext cx="1084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Projection Matrix</a:t>
            </a:r>
            <a:endParaRPr lang="ko-KR" altLang="en-US" sz="2800" b="1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A18FDDF-2DCF-4D0A-AE68-F0E2A51BAEB6}"/>
              </a:ext>
            </a:extLst>
          </p:cNvPr>
          <p:cNvCxnSpPr/>
          <p:nvPr/>
        </p:nvCxnSpPr>
        <p:spPr>
          <a:xfrm>
            <a:off x="674254" y="723428"/>
            <a:ext cx="10843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 descr="화살이(가) 표시된 사진&#10;&#10;자동 생성된 설명">
            <a:extLst>
              <a:ext uri="{FF2B5EF4-FFF2-40B4-BE49-F238E27FC236}">
                <a16:creationId xmlns:a16="http://schemas.microsoft.com/office/drawing/2014/main" id="{9A506B02-ECEF-445C-BE83-A7E263B17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641" y="905893"/>
            <a:ext cx="2182345" cy="15752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A87D4A-2F1B-43BF-AC66-8F72F2F212B1}"/>
              </a:ext>
            </a:extLst>
          </p:cNvPr>
          <p:cNvSpPr txBox="1"/>
          <p:nvPr/>
        </p:nvSpPr>
        <p:spPr>
          <a:xfrm>
            <a:off x="3526971" y="846629"/>
            <a:ext cx="7898675" cy="3376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/>
              <a:t>월드좌표계는</a:t>
            </a:r>
            <a:r>
              <a:rPr lang="ko-KR" altLang="en-US" sz="1600" dirty="0"/>
              <a:t> 지면을 </a:t>
            </a:r>
            <a:r>
              <a:rPr lang="en-US" altLang="ko-KR" sz="1600" dirty="0"/>
              <a:t>XY</a:t>
            </a:r>
            <a:r>
              <a:rPr lang="ko-KR" altLang="en-US" sz="1600" dirty="0"/>
              <a:t>평면으로</a:t>
            </a:r>
            <a:r>
              <a:rPr lang="en-US" altLang="ko-KR" sz="1600" dirty="0"/>
              <a:t>, </a:t>
            </a:r>
            <a:r>
              <a:rPr lang="ko-KR" altLang="en-US" sz="1600" dirty="0"/>
              <a:t>카메라 좌표계는 카메라의 </a:t>
            </a:r>
            <a:r>
              <a:rPr lang="ko-KR" altLang="en-US" sz="1600" dirty="0" err="1"/>
              <a:t>광학축</a:t>
            </a:r>
            <a:r>
              <a:rPr lang="ko-KR" altLang="en-US" sz="1600" dirty="0"/>
              <a:t> 방향을 </a:t>
            </a:r>
            <a:r>
              <a:rPr lang="en-US" altLang="ko-KR" sz="1600" dirty="0" err="1"/>
              <a:t>Zc</a:t>
            </a:r>
            <a:r>
              <a:rPr lang="en-US" altLang="ko-KR" sz="1600" dirty="0"/>
              <a:t>, </a:t>
            </a:r>
            <a:r>
              <a:rPr lang="ko-KR" altLang="en-US" sz="1600" dirty="0"/>
              <a:t>오른쪽을 </a:t>
            </a:r>
            <a:r>
              <a:rPr lang="en-US" altLang="ko-KR" sz="1600" dirty="0" err="1"/>
              <a:t>Xc</a:t>
            </a:r>
            <a:r>
              <a:rPr lang="en-US" altLang="ko-KR" sz="1600" dirty="0"/>
              <a:t>, </a:t>
            </a:r>
            <a:r>
              <a:rPr lang="ko-KR" altLang="en-US" sz="1600" dirty="0"/>
              <a:t>아래쪽을 </a:t>
            </a:r>
            <a:r>
              <a:rPr lang="en-US" altLang="ko-KR" sz="1600" dirty="0" err="1"/>
              <a:t>Yc</a:t>
            </a:r>
            <a:r>
              <a:rPr lang="ko-KR" altLang="en-US" sz="1600" dirty="0"/>
              <a:t>로</a:t>
            </a:r>
            <a:endParaRPr lang="en-US" altLang="ko-KR" sz="1600" dirty="0"/>
          </a:p>
          <a:p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월드 좌표계에서 카메라의 원점 위치는 </a:t>
            </a:r>
            <a:r>
              <a:rPr lang="en-US" altLang="ko-KR" sz="1600" dirty="0"/>
              <a:t>(X1, Y1, Z1)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70C0"/>
                </a:solidFill>
              </a:rPr>
              <a:t>pan(</a:t>
            </a:r>
            <a:r>
              <a:rPr lang="ko-KR" altLang="en-US" sz="1600" dirty="0">
                <a:solidFill>
                  <a:srgbClr val="0070C0"/>
                </a:solidFill>
              </a:rPr>
              <a:t>팬</a:t>
            </a:r>
            <a:r>
              <a:rPr lang="en-US" altLang="ko-KR" sz="1600" dirty="0">
                <a:solidFill>
                  <a:srgbClr val="0070C0"/>
                </a:solidFill>
              </a:rPr>
              <a:t>, Yaw): </a:t>
            </a:r>
            <a:r>
              <a:rPr lang="ko-KR" altLang="en-US" sz="1600" dirty="0"/>
              <a:t>카메라의 좌우 회전각</a:t>
            </a:r>
            <a:r>
              <a:rPr lang="en-US" altLang="ko-KR" sz="1600" dirty="0"/>
              <a:t>. </a:t>
            </a:r>
            <a:r>
              <a:rPr lang="ko-KR" altLang="en-US" sz="1600" dirty="0" err="1"/>
              <a:t>광학축이</a:t>
            </a:r>
            <a:r>
              <a:rPr lang="ko-KR" altLang="en-US" sz="1600" dirty="0"/>
              <a:t> 세계 좌표계 </a:t>
            </a:r>
            <a:r>
              <a:rPr lang="en-US" altLang="ko-KR" sz="1600" dirty="0"/>
              <a:t>Y</a:t>
            </a:r>
            <a:r>
              <a:rPr lang="ko-KR" altLang="en-US" sz="1600" dirty="0"/>
              <a:t>축과 </a:t>
            </a:r>
            <a:r>
              <a:rPr lang="ko-KR" altLang="en-US" sz="1600" dirty="0" err="1"/>
              <a:t>평행할때</a:t>
            </a:r>
            <a:r>
              <a:rPr lang="ko-KR" altLang="en-US" sz="1600" dirty="0"/>
              <a:t> </a:t>
            </a:r>
            <a:r>
              <a:rPr lang="en-US" altLang="ko-KR" sz="1600" dirty="0"/>
              <a:t>0</a:t>
            </a:r>
            <a:r>
              <a:rPr lang="ko-KR" altLang="en-US" sz="1600" dirty="0"/>
              <a:t>도</a:t>
            </a:r>
            <a:r>
              <a:rPr lang="en-US" altLang="ko-KR" sz="1600" dirty="0"/>
              <a:t>, </a:t>
            </a:r>
            <a:r>
              <a:rPr lang="ko-KR" altLang="en-US" sz="1600" dirty="0"/>
              <a:t>왼쪽이 </a:t>
            </a:r>
            <a:r>
              <a:rPr lang="en-US" altLang="ko-KR" sz="1600" dirty="0"/>
              <a:t>+, </a:t>
            </a:r>
            <a:r>
              <a:rPr lang="ko-KR" altLang="en-US" sz="1600" dirty="0"/>
              <a:t>오른쪽이 </a:t>
            </a:r>
            <a:r>
              <a:rPr lang="en-US" altLang="ko-KR" sz="1600" dirty="0"/>
              <a:t>–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FF0000"/>
                </a:solidFill>
              </a:rPr>
              <a:t>tilt(</a:t>
            </a:r>
            <a:r>
              <a:rPr lang="ko-KR" altLang="en-US" sz="1600" dirty="0" err="1">
                <a:solidFill>
                  <a:srgbClr val="FF0000"/>
                </a:solidFill>
              </a:rPr>
              <a:t>틸트</a:t>
            </a:r>
            <a:r>
              <a:rPr lang="en-US" altLang="ko-KR" sz="1600" dirty="0">
                <a:solidFill>
                  <a:srgbClr val="FF0000"/>
                </a:solidFill>
              </a:rPr>
              <a:t>, Pitch): </a:t>
            </a:r>
            <a:r>
              <a:rPr lang="ko-KR" altLang="en-US" sz="1600" dirty="0"/>
              <a:t>카메라의 상하 회전각</a:t>
            </a:r>
            <a:r>
              <a:rPr lang="en-US" altLang="ko-KR" sz="1600" dirty="0"/>
              <a:t>. </a:t>
            </a:r>
            <a:r>
              <a:rPr lang="ko-KR" altLang="en-US" sz="1600" dirty="0" err="1"/>
              <a:t>광학축이</a:t>
            </a:r>
            <a:r>
              <a:rPr lang="ko-KR" altLang="en-US" sz="1600" dirty="0"/>
              <a:t> 세계 좌표계 </a:t>
            </a:r>
            <a:r>
              <a:rPr lang="en-US" altLang="ko-KR" sz="1600" dirty="0"/>
              <a:t>Y</a:t>
            </a:r>
            <a:r>
              <a:rPr lang="ko-KR" altLang="en-US" sz="1600" dirty="0"/>
              <a:t>축과 </a:t>
            </a:r>
            <a:r>
              <a:rPr lang="ko-KR" altLang="en-US" sz="1600" dirty="0" err="1"/>
              <a:t>평행할때</a:t>
            </a:r>
            <a:r>
              <a:rPr lang="ko-KR" altLang="en-US" sz="1600" dirty="0"/>
              <a:t> </a:t>
            </a:r>
            <a:r>
              <a:rPr lang="en-US" altLang="ko-KR" sz="1600" dirty="0"/>
              <a:t>0</a:t>
            </a:r>
            <a:r>
              <a:rPr lang="ko-KR" altLang="en-US" sz="1600" dirty="0"/>
              <a:t>도</a:t>
            </a:r>
            <a:r>
              <a:rPr lang="en-US" altLang="ko-KR" sz="1600" dirty="0"/>
              <a:t>, </a:t>
            </a:r>
            <a:r>
              <a:rPr lang="ko-KR" altLang="en-US" sz="1600" dirty="0"/>
              <a:t>위쪽이 </a:t>
            </a:r>
            <a:r>
              <a:rPr lang="en-US" altLang="ko-KR" sz="1600" dirty="0"/>
              <a:t>+, </a:t>
            </a:r>
            <a:r>
              <a:rPr lang="ko-KR" altLang="en-US" sz="1600" dirty="0"/>
              <a:t>아래쪽이 </a:t>
            </a:r>
            <a:r>
              <a:rPr lang="en-US" altLang="ko-KR" sz="1600" dirty="0"/>
              <a:t>–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8000"/>
                </a:solidFill>
              </a:rPr>
              <a:t>roll(</a:t>
            </a:r>
            <a:r>
              <a:rPr lang="ko-KR" altLang="en-US" sz="1600" dirty="0">
                <a:solidFill>
                  <a:srgbClr val="008000"/>
                </a:solidFill>
              </a:rPr>
              <a:t>롤</a:t>
            </a:r>
            <a:r>
              <a:rPr lang="en-US" altLang="ko-KR" sz="1600" dirty="0">
                <a:solidFill>
                  <a:srgbClr val="008000"/>
                </a:solidFill>
              </a:rPr>
              <a:t>):  </a:t>
            </a:r>
            <a:r>
              <a:rPr lang="ko-KR" altLang="en-US" sz="1600" dirty="0"/>
              <a:t>카메라 </a:t>
            </a:r>
            <a:r>
              <a:rPr lang="ko-KR" altLang="en-US" sz="1600" dirty="0" err="1"/>
              <a:t>광학축을</a:t>
            </a:r>
            <a:r>
              <a:rPr lang="ko-KR" altLang="en-US" sz="1600" dirty="0"/>
              <a:t> 기준으로 한 회전각으로서</a:t>
            </a:r>
            <a:r>
              <a:rPr lang="en-US" altLang="ko-KR" sz="1600" dirty="0"/>
              <a:t>, </a:t>
            </a:r>
            <a:r>
              <a:rPr lang="ko-KR" altLang="en-US" sz="1600" dirty="0"/>
              <a:t>카메라와 같은 방향을 바라볼 때 반시계 방향이 </a:t>
            </a:r>
            <a:r>
              <a:rPr lang="en-US" altLang="ko-KR" sz="1600" dirty="0"/>
              <a:t>+ </a:t>
            </a:r>
            <a:r>
              <a:rPr lang="ko-KR" altLang="en-US" sz="1600" dirty="0"/>
              <a:t>방향</a:t>
            </a:r>
            <a:endParaRPr lang="en-US" altLang="ko-KR" sz="1600" dirty="0"/>
          </a:p>
        </p:txBody>
      </p:sp>
      <p:pic>
        <p:nvPicPr>
          <p:cNvPr id="28" name="그림 27" descr="텍스트이(가) 표시된 사진&#10;&#10;자동 생성된 설명">
            <a:extLst>
              <a:ext uri="{FF2B5EF4-FFF2-40B4-BE49-F238E27FC236}">
                <a16:creationId xmlns:a16="http://schemas.microsoft.com/office/drawing/2014/main" id="{1EB1E4F5-3ED8-49CE-9CAF-D6797C72C3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54" y="4230196"/>
            <a:ext cx="3486150" cy="178117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45395AF-F1C4-4D08-9CA6-4BFABB56F9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54" y="2370663"/>
            <a:ext cx="1874648" cy="166391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B3DA208-382B-4959-9FEC-D2089ADD481D}"/>
              </a:ext>
            </a:extLst>
          </p:cNvPr>
          <p:cNvSpPr txBox="1"/>
          <p:nvPr/>
        </p:nvSpPr>
        <p:spPr>
          <a:xfrm>
            <a:off x="4809853" y="4930371"/>
            <a:ext cx="5155474" cy="790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세계 좌표계와 카메라 좌표계의 좌표축 일치를 위한 회전행렬은 </a:t>
            </a:r>
            <a:r>
              <a:rPr lang="en-US" altLang="ko-KR" sz="1600" dirty="0"/>
              <a:t>pan</a:t>
            </a:r>
            <a:r>
              <a:rPr lang="ko-KR" altLang="en-US" sz="1600" dirty="0"/>
              <a:t>과 </a:t>
            </a:r>
            <a:r>
              <a:rPr lang="en-US" altLang="ko-KR" sz="1600" dirty="0"/>
              <a:t>tilt</a:t>
            </a:r>
            <a:r>
              <a:rPr lang="ko-KR" altLang="en-US" sz="1600" dirty="0"/>
              <a:t>의 회전행렬의 곱으로 나타난다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32448D58-77C8-415C-9567-0E7C6C593B9D}"/>
                  </a:ext>
                </a:extLst>
              </p14:cNvPr>
              <p14:cNvContentPartPr/>
              <p14:nvPr/>
            </p14:nvContentPartPr>
            <p14:xfrm>
              <a:off x="2557260" y="2626920"/>
              <a:ext cx="66960" cy="7020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32448D58-77C8-415C-9567-0E7C6C593B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48260" y="2617920"/>
                <a:ext cx="84600" cy="8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449946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1839</TotalTime>
  <Words>579</Words>
  <Application>Microsoft Office PowerPoint</Application>
  <PresentationFormat>와이드스크린</PresentationFormat>
  <Paragraphs>55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맑은 고딕</vt:lpstr>
      <vt:lpstr>Arial</vt:lpstr>
      <vt:lpstr>Calibri</vt:lpstr>
      <vt:lpstr>Calibri Light</vt:lpstr>
      <vt:lpstr>Cambria Math</vt:lpstr>
      <vt:lpstr>추억</vt:lpstr>
      <vt:lpstr>Camera Calibration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다양한 최적화 알고리즘</dc:title>
  <dc:creator>이기진</dc:creator>
  <cp:lastModifiedBy>이기진</cp:lastModifiedBy>
  <cp:revision>368</cp:revision>
  <dcterms:created xsi:type="dcterms:W3CDTF">2022-01-03T15:43:39Z</dcterms:created>
  <dcterms:modified xsi:type="dcterms:W3CDTF">2023-02-18T11:13:46Z</dcterms:modified>
</cp:coreProperties>
</file>